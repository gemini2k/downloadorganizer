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118F48D-0773-4A91-BD1A-BF6C5BFFCE60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C194B5-08B6-4C38-8B69-6B9DB4E9987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78E739-8BBB-4174-8C2B-4FD85332E95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5E5214-8FE8-4546-92E3-300E5812FE8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37A74A-E7EA-42D9-84E1-161B35DF811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EE8D7E-F327-4205-9AD9-42864ED5C8E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A9AE93-404D-4335-9B79-C4492E84DD7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72206E-45B4-42EB-A050-95E87C26AE7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2DCCDE-84F2-4BC8-A846-8E413DBDC37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9E8CBD-5A74-471E-8A1D-A535342B448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DB0919-B0A1-4043-870A-79155A72AB2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F4E5D2-9272-4DDD-B716-4090685D324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A72731-EAA3-4A5C-B756-0A90D28A6F1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028A5E-4AA5-4486-BB45-C7077E3F7FD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88520" cy="109440"/>
          </a:xfrm>
          <a:prstGeom prst="rect">
            <a:avLst/>
          </a:prstGeom>
          <a:solidFill>
            <a:srgbClr val="0E203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8249760" y="1483200"/>
            <a:ext cx="261000" cy="261000"/>
          </a:xfrm>
          <a:prstGeom prst="ellipse">
            <a:avLst/>
          </a:prstGeom>
          <a:solidFill>
            <a:srgbClr val="F4883C">
              <a:alpha val="22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8321040" y="1554480"/>
            <a:ext cx="118440" cy="118440"/>
          </a:xfrm>
          <a:prstGeom prst="ellipse">
            <a:avLst/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0095120" y="1636920"/>
            <a:ext cx="200880" cy="200880"/>
          </a:xfrm>
          <a:prstGeom prst="ellipse">
            <a:avLst/>
          </a:prstGeom>
          <a:solidFill>
            <a:srgbClr val="2DD4BF">
              <a:alpha val="22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10149840" y="1691640"/>
            <a:ext cx="91080" cy="91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8955720" y="2143440"/>
            <a:ext cx="522720" cy="522720"/>
          </a:xfrm>
          <a:prstGeom prst="ellipse">
            <a:avLst/>
          </a:prstGeom>
          <a:solidFill>
            <a:srgbClr val="5EEAD4">
              <a:alpha val="22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9098280" y="2286000"/>
            <a:ext cx="237240" cy="23724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0872360" y="2734200"/>
            <a:ext cx="200880" cy="200880"/>
          </a:xfrm>
          <a:prstGeom prst="ellipse">
            <a:avLst/>
          </a:prstGeom>
          <a:solidFill>
            <a:srgbClr val="A78BFA">
              <a:alpha val="22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10927080" y="2788920"/>
            <a:ext cx="91080" cy="9108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9741960" y="3021120"/>
            <a:ext cx="321480" cy="321480"/>
          </a:xfrm>
          <a:prstGeom prst="ellipse">
            <a:avLst/>
          </a:prstGeom>
          <a:solidFill>
            <a:srgbClr val="F4883C">
              <a:alpha val="22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9829800" y="3108960"/>
            <a:ext cx="145800" cy="145800"/>
          </a:xfrm>
          <a:prstGeom prst="ellipse">
            <a:avLst/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8478360" y="3769200"/>
            <a:ext cx="261000" cy="261000"/>
          </a:xfrm>
          <a:prstGeom prst="ellipse">
            <a:avLst/>
          </a:prstGeom>
          <a:solidFill>
            <a:srgbClr val="5B9BF0">
              <a:alpha val="22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8549640" y="3840480"/>
            <a:ext cx="118440" cy="118440"/>
          </a:xfrm>
          <a:prstGeom prst="ellipse">
            <a:avLst/>
          </a:prstGeom>
          <a:solidFill>
            <a:srgbClr val="5B9B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10222920" y="4005000"/>
            <a:ext cx="402120" cy="402120"/>
          </a:xfrm>
          <a:prstGeom prst="ellipse">
            <a:avLst/>
          </a:prstGeom>
          <a:solidFill>
            <a:srgbClr val="F4883C">
              <a:alpha val="22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10332720" y="4114800"/>
            <a:ext cx="182520" cy="182520"/>
          </a:xfrm>
          <a:prstGeom prst="ellipse">
            <a:avLst/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375760" y="1609200"/>
            <a:ext cx="822960" cy="713160"/>
          </a:xfrm>
          <a:prstGeom prst="line">
            <a:avLst/>
          </a:prstGeom>
          <a:ln w="9525">
            <a:solidFill>
              <a:srgbClr val="1C32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217080" y="2404800"/>
            <a:ext cx="658440" cy="758880"/>
          </a:xfrm>
          <a:prstGeom prst="line">
            <a:avLst/>
          </a:prstGeom>
          <a:ln w="9525">
            <a:solidFill>
              <a:srgbClr val="1C32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217080" y="2404800"/>
            <a:ext cx="1783080" cy="420480"/>
          </a:xfrm>
          <a:prstGeom prst="line">
            <a:avLst/>
          </a:prstGeom>
          <a:ln w="9525">
            <a:solidFill>
              <a:srgbClr val="1C32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868680" y="5670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—— SAFE FILE AUTOMATION SYSTEM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822960" y="19659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안전 원칙 기반 다운로드 폴더 자동 정리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786240" y="2468880"/>
            <a:ext cx="896076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zh-CN" sz="52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다운로드 폴더 정리</a:t>
            </a:r>
            <a:endParaRPr lang="en-US" sz="5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zh-CN" sz="5200" b="1" strike="noStrike" spc="-1">
                <a:solidFill>
                  <a:srgbClr val="5EEAD4"/>
                </a:solidFill>
                <a:latin typeface="Noto Sans KR"/>
                <a:ea typeface="Noto Sans KR"/>
              </a:rPr>
              <a:t>자동화 시스템</a:t>
            </a:r>
            <a:endParaRPr lang="en-US" sz="5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868680" y="4572000"/>
            <a:ext cx="777240" cy="360"/>
          </a:xfrm>
          <a:prstGeom prst="line">
            <a:avLst/>
          </a:prstGeom>
          <a:ln w="31750">
            <a:solidFill>
              <a:srgbClr val="F488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822960" y="48006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0" strike="noStrike" spc="-1">
                <a:solidFill>
                  <a:srgbClr val="B9C6D8"/>
                </a:solidFill>
                <a:latin typeface="Noto Sans KR"/>
                <a:ea typeface="Noto Sans KR"/>
              </a:rPr>
              <a:t>유형별 분류 </a:t>
            </a:r>
            <a:r>
              <a:rPr lang="en-US" sz="1600" b="0" strike="noStrike" spc="-1">
                <a:solidFill>
                  <a:srgbClr val="B9C6D8"/>
                </a:solidFill>
                <a:latin typeface="Noto Sans KR"/>
                <a:ea typeface="Noto Sans KR"/>
              </a:rPr>
              <a:t>· </a:t>
            </a:r>
            <a:r>
              <a:rPr lang="zh-CN" sz="1600" b="0" strike="noStrike" spc="-1">
                <a:solidFill>
                  <a:srgbClr val="B9C6D8"/>
                </a:solidFill>
                <a:latin typeface="Noto Sans KR"/>
                <a:ea typeface="Noto Sans KR"/>
              </a:rPr>
              <a:t>중복</a:t>
            </a:r>
            <a:r>
              <a:rPr lang="en-US" sz="1600" b="0" strike="noStrike" spc="-1">
                <a:solidFill>
                  <a:srgbClr val="B9C6D8"/>
                </a:solidFill>
                <a:latin typeface="Noto Sans KR"/>
                <a:ea typeface="Noto Sans KR"/>
              </a:rPr>
              <a:t>/</a:t>
            </a:r>
            <a:r>
              <a:rPr lang="zh-CN" sz="1600" b="0" strike="noStrike" spc="-1">
                <a:solidFill>
                  <a:srgbClr val="B9C6D8"/>
                </a:solidFill>
                <a:latin typeface="Noto Sans KR"/>
                <a:ea typeface="Noto Sans KR"/>
              </a:rPr>
              <a:t>오래된 파일 탐지 </a:t>
            </a:r>
            <a:r>
              <a:rPr lang="en-US" sz="1600" b="0" strike="noStrike" spc="-1">
                <a:solidFill>
                  <a:srgbClr val="B9C6D8"/>
                </a:solidFill>
                <a:latin typeface="Noto Sans KR"/>
                <a:ea typeface="Noto Sans KR"/>
              </a:rPr>
              <a:t>· </a:t>
            </a:r>
            <a:r>
              <a:rPr lang="zh-CN" sz="1600" b="0" strike="noStrike" spc="-1">
                <a:solidFill>
                  <a:srgbClr val="B9C6D8"/>
                </a:solidFill>
                <a:latin typeface="Noto Sans KR"/>
                <a:ea typeface="Noto Sans KR"/>
              </a:rPr>
              <a:t>북마크 분석 — 삭제 없이 안전하게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822960" y="5669280"/>
            <a:ext cx="10515600" cy="360"/>
          </a:xfrm>
          <a:prstGeom prst="line">
            <a:avLst/>
          </a:prstGeom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822960" y="58705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6E83A2"/>
                </a:solidFill>
                <a:latin typeface="Noto Sans KR"/>
                <a:ea typeface="Noto Sans KR"/>
              </a:rPr>
              <a:t>PROJECT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822960" y="61264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DownloadOrganizer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3493080" y="58705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6E83A2"/>
                </a:solidFill>
                <a:latin typeface="Noto Sans KR"/>
                <a:ea typeface="Noto Sans KR"/>
              </a:rPr>
              <a:t>INTERFACE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3493080" y="61264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CLI · Web · EXE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6163200" y="58705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6E83A2"/>
                </a:solidFill>
                <a:latin typeface="Noto Sans KR"/>
                <a:ea typeface="Noto Sans KR"/>
              </a:rPr>
              <a:t>STACK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6163200" y="61264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Python · Streamlit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8832960" y="58705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6E83A2"/>
                </a:solidFill>
                <a:latin typeface="Noto Sans KR"/>
                <a:ea typeface="Noto Sans KR"/>
              </a:rPr>
              <a:t>VERSION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8832960" y="61264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v0.7.0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01  ·  OVERVIEW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개요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쌓이기만 하는 다운로드 폴더 — 수동 정리는 느리고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잘못 지우면 되돌리기 어렵다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93A3BA"/>
                </a:solidFill>
                <a:latin typeface="Noto Sans KR"/>
                <a:ea typeface="Noto Sans KR"/>
              </a:rPr>
              <a:t>02</a:t>
            </a:r>
            <a:r>
              <a:rPr lang="en-US" sz="1100" b="0" strike="noStrike" spc="97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248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502920" y="2286000"/>
            <a:ext cx="5074560" cy="3702960"/>
          </a:xfrm>
          <a:prstGeom prst="rect">
            <a:avLst/>
          </a:prstGeom>
          <a:solidFill>
            <a:srgbClr val="111F33"/>
          </a:solidFill>
          <a:ln w="15875">
            <a:solidFill>
              <a:srgbClr val="3A2A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868680" y="2541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EE6B6B"/>
                </a:solidFill>
                <a:latin typeface="Noto Sans KR"/>
                <a:ea typeface="Noto Sans KR"/>
              </a:rPr>
              <a:t>AS-IS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850320" y="278892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기존 정리 방식의 한계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9"/>
          <p:cNvSpPr/>
          <p:nvPr/>
        </p:nvSpPr>
        <p:spPr>
          <a:xfrm>
            <a:off x="886680" y="3346560"/>
            <a:ext cx="502920" cy="360"/>
          </a:xfrm>
          <a:prstGeom prst="line">
            <a:avLst/>
          </a:prstGeom>
          <a:ln w="25400">
            <a:solidFill>
              <a:srgbClr val="EE6B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868680" y="3584520"/>
            <a:ext cx="237240" cy="237240"/>
          </a:xfrm>
          <a:prstGeom prst="rect">
            <a:avLst/>
          </a:prstGeom>
          <a:solidFill>
            <a:srgbClr val="5A233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868680" y="358452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D9D9"/>
                </a:solidFill>
                <a:latin typeface="Noto Sans KR"/>
                <a:ea typeface="Noto Sans KR"/>
              </a:rPr>
              <a:t>01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1234440" y="35204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한 폴더에 수백 개 파일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1234440" y="378576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원하는 파일을 찾기 어려움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4"/>
          <p:cNvSpPr/>
          <p:nvPr/>
        </p:nvSpPr>
        <p:spPr>
          <a:xfrm>
            <a:off x="868680" y="4187880"/>
            <a:ext cx="237240" cy="237240"/>
          </a:xfrm>
          <a:prstGeom prst="rect">
            <a:avLst/>
          </a:prstGeom>
          <a:solidFill>
            <a:srgbClr val="5A233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868680" y="418788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D9D9"/>
                </a:solidFill>
                <a:latin typeface="Noto Sans KR"/>
                <a:ea typeface="Noto Sans KR"/>
              </a:rPr>
              <a:t>02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1234440" y="412380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중복</a:t>
            </a:r>
            <a:r>
              <a:rPr lang="en-US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오래된 파일 누적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1234440" y="438912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식별</a:t>
            </a:r>
            <a:r>
              <a:rPr lang="en-US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정리할 수단이 없음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8"/>
          <p:cNvSpPr/>
          <p:nvPr/>
        </p:nvSpPr>
        <p:spPr>
          <a:xfrm>
            <a:off x="868680" y="4791600"/>
            <a:ext cx="237240" cy="237240"/>
          </a:xfrm>
          <a:prstGeom prst="rect">
            <a:avLst/>
          </a:prstGeom>
          <a:solidFill>
            <a:srgbClr val="5A233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9"/>
          <p:cNvSpPr/>
          <p:nvPr/>
        </p:nvSpPr>
        <p:spPr>
          <a:xfrm>
            <a:off x="868680" y="479160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D9D9"/>
                </a:solidFill>
                <a:latin typeface="Noto Sans KR"/>
                <a:ea typeface="Noto Sans KR"/>
              </a:rPr>
              <a:t>03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1234440" y="47275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수동 정리</a:t>
            </a:r>
            <a:r>
              <a:rPr lang="en-US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삭제는 실수 위험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1234440" y="499248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잘못 지우면 복구 곤란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22"/>
          <p:cNvSpPr/>
          <p:nvPr/>
        </p:nvSpPr>
        <p:spPr>
          <a:xfrm>
            <a:off x="868680" y="5394960"/>
            <a:ext cx="237240" cy="237240"/>
          </a:xfrm>
          <a:prstGeom prst="rect">
            <a:avLst/>
          </a:prstGeom>
          <a:solidFill>
            <a:srgbClr val="5A233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3"/>
          <p:cNvSpPr/>
          <p:nvPr/>
        </p:nvSpPr>
        <p:spPr>
          <a:xfrm>
            <a:off x="868680" y="539496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D9D9"/>
                </a:solidFill>
                <a:latin typeface="Noto Sans KR"/>
                <a:ea typeface="Noto Sans KR"/>
              </a:rPr>
              <a:t>04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24"/>
          <p:cNvSpPr/>
          <p:nvPr/>
        </p:nvSpPr>
        <p:spPr>
          <a:xfrm>
            <a:off x="1234440" y="53308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이동 내역 추적 불가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25"/>
          <p:cNvSpPr/>
          <p:nvPr/>
        </p:nvSpPr>
        <p:spPr>
          <a:xfrm>
            <a:off x="1234440" y="559620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무엇을 어디로 옮겼는지 모름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26"/>
          <p:cNvSpPr/>
          <p:nvPr/>
        </p:nvSpPr>
        <p:spPr>
          <a:xfrm>
            <a:off x="5742360" y="3886200"/>
            <a:ext cx="56664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7"/>
          <p:cNvSpPr/>
          <p:nvPr/>
        </p:nvSpPr>
        <p:spPr>
          <a:xfrm>
            <a:off x="6583680" y="2286000"/>
            <a:ext cx="5074560" cy="3702960"/>
          </a:xfrm>
          <a:prstGeom prst="rect">
            <a:avLst/>
          </a:prstGeom>
          <a:solidFill>
            <a:srgbClr val="111F33"/>
          </a:solidFill>
          <a:ln w="15875">
            <a:solidFill>
              <a:srgbClr val="1E4A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28"/>
          <p:cNvSpPr/>
          <p:nvPr/>
        </p:nvSpPr>
        <p:spPr>
          <a:xfrm>
            <a:off x="6949440" y="2541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5EEAD4"/>
                </a:solidFill>
                <a:latin typeface="Noto Sans KR"/>
                <a:ea typeface="Noto Sans KR"/>
              </a:rPr>
              <a:t>TO-BE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29"/>
          <p:cNvSpPr/>
          <p:nvPr/>
        </p:nvSpPr>
        <p:spPr>
          <a:xfrm>
            <a:off x="6931080" y="278892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DownloadOrganizer</a:t>
            </a:r>
            <a:endParaRPr lang="en-US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30"/>
          <p:cNvSpPr/>
          <p:nvPr/>
        </p:nvSpPr>
        <p:spPr>
          <a:xfrm>
            <a:off x="6967440" y="3346560"/>
            <a:ext cx="502920" cy="360"/>
          </a:xfrm>
          <a:prstGeom prst="line">
            <a:avLst/>
          </a:prstGeom>
          <a:ln w="25400">
            <a:solidFill>
              <a:srgbClr val="5EEA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31"/>
          <p:cNvSpPr/>
          <p:nvPr/>
        </p:nvSpPr>
        <p:spPr>
          <a:xfrm>
            <a:off x="6949440" y="3584520"/>
            <a:ext cx="237240" cy="237240"/>
          </a:xfrm>
          <a:prstGeom prst="rect">
            <a:avLst/>
          </a:prstGeom>
          <a:solidFill>
            <a:srgbClr val="1246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32"/>
          <p:cNvSpPr/>
          <p:nvPr/>
        </p:nvSpPr>
        <p:spPr>
          <a:xfrm>
            <a:off x="6949440" y="358452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CFFFF6"/>
                </a:solidFill>
                <a:latin typeface="Noto Sans KR"/>
                <a:ea typeface="Noto Sans KR"/>
              </a:rPr>
              <a:t>01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33"/>
          <p:cNvSpPr/>
          <p:nvPr/>
        </p:nvSpPr>
        <p:spPr>
          <a:xfrm>
            <a:off x="7315200" y="35204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유형</a:t>
            </a:r>
            <a:r>
              <a:rPr lang="en-US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날짜별 자동 분류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34"/>
          <p:cNvSpPr/>
          <p:nvPr/>
        </p:nvSpPr>
        <p:spPr>
          <a:xfrm>
            <a:off x="7315200" y="378576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8</a:t>
            </a: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개 유형으로 한 번에 정리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35"/>
          <p:cNvSpPr/>
          <p:nvPr/>
        </p:nvSpPr>
        <p:spPr>
          <a:xfrm>
            <a:off x="6949440" y="4187880"/>
            <a:ext cx="237240" cy="237240"/>
          </a:xfrm>
          <a:prstGeom prst="rect">
            <a:avLst/>
          </a:prstGeom>
          <a:solidFill>
            <a:srgbClr val="1246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36"/>
          <p:cNvSpPr/>
          <p:nvPr/>
        </p:nvSpPr>
        <p:spPr>
          <a:xfrm>
            <a:off x="6949440" y="418788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CFFFF6"/>
                </a:solidFill>
                <a:latin typeface="Noto Sans KR"/>
                <a:ea typeface="Noto Sans KR"/>
              </a:rPr>
              <a:t>02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37"/>
          <p:cNvSpPr/>
          <p:nvPr/>
        </p:nvSpPr>
        <p:spPr>
          <a:xfrm>
            <a:off x="7315200" y="412380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중복</a:t>
            </a:r>
            <a:r>
              <a:rPr lang="en-US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오래된 파일 자동 탐지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38"/>
          <p:cNvSpPr/>
          <p:nvPr/>
        </p:nvSpPr>
        <p:spPr>
          <a:xfrm>
            <a:off x="7315200" y="438912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해시 기반 정확한 식별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39"/>
          <p:cNvSpPr/>
          <p:nvPr/>
        </p:nvSpPr>
        <p:spPr>
          <a:xfrm>
            <a:off x="6949440" y="4791600"/>
            <a:ext cx="237240" cy="237240"/>
          </a:xfrm>
          <a:prstGeom prst="rect">
            <a:avLst/>
          </a:prstGeom>
          <a:solidFill>
            <a:srgbClr val="1246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40"/>
          <p:cNvSpPr/>
          <p:nvPr/>
        </p:nvSpPr>
        <p:spPr>
          <a:xfrm>
            <a:off x="6949440" y="479160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CFFFF6"/>
                </a:solidFill>
                <a:latin typeface="Noto Sans KR"/>
                <a:ea typeface="Noto Sans KR"/>
              </a:rPr>
              <a:t>03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41"/>
          <p:cNvSpPr/>
          <p:nvPr/>
        </p:nvSpPr>
        <p:spPr>
          <a:xfrm>
            <a:off x="7315200" y="47275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삭제 없는 안전 이동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42"/>
          <p:cNvSpPr/>
          <p:nvPr/>
        </p:nvSpPr>
        <p:spPr>
          <a:xfrm>
            <a:off x="7315200" y="499248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확인 토큰으로 이중 검증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43"/>
          <p:cNvSpPr/>
          <p:nvPr/>
        </p:nvSpPr>
        <p:spPr>
          <a:xfrm>
            <a:off x="6949440" y="5394960"/>
            <a:ext cx="237240" cy="237240"/>
          </a:xfrm>
          <a:prstGeom prst="rect">
            <a:avLst/>
          </a:prstGeom>
          <a:solidFill>
            <a:srgbClr val="1246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44"/>
          <p:cNvSpPr/>
          <p:nvPr/>
        </p:nvSpPr>
        <p:spPr>
          <a:xfrm>
            <a:off x="6949440" y="539496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CFFFF6"/>
                </a:solidFill>
                <a:latin typeface="Noto Sans KR"/>
                <a:ea typeface="Noto Sans KR"/>
              </a:rPr>
              <a:t>04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45"/>
          <p:cNvSpPr/>
          <p:nvPr/>
        </p:nvSpPr>
        <p:spPr>
          <a:xfrm>
            <a:off x="7315200" y="53308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이력 기반 되돌리기</a:t>
            </a:r>
            <a:r>
              <a:rPr lang="en-US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보고서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46"/>
          <p:cNvSpPr/>
          <p:nvPr/>
        </p:nvSpPr>
        <p:spPr>
          <a:xfrm>
            <a:off x="7315200" y="559620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언제든 원상 복구 가능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02  ·  SYSTEM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시스템 구성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하나의 안전 엔진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세 가지 진입 방식 — 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CLI ·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웹 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 EXE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가 같은 로직을 공유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93A3BA"/>
                </a:solidFill>
                <a:latin typeface="Noto Sans KR"/>
                <a:ea typeface="Noto Sans KR"/>
              </a:rPr>
              <a:t>03</a:t>
            </a:r>
            <a:r>
              <a:rPr lang="en-US" sz="1100" b="0" strike="noStrike" spc="97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248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502920" y="22402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F4883C"/>
                </a:solidFill>
                <a:latin typeface="Noto Sans KR"/>
                <a:ea typeface="Noto Sans KR"/>
              </a:rPr>
              <a:t>ENTRY POINTS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484560" y="2487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2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진입 방식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502920" y="3063240"/>
            <a:ext cx="5120280" cy="269712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9"/>
          <p:cNvSpPr/>
          <p:nvPr/>
        </p:nvSpPr>
        <p:spPr>
          <a:xfrm>
            <a:off x="502920" y="3063240"/>
            <a:ext cx="5120280" cy="456840"/>
          </a:xfrm>
          <a:prstGeom prst="rect">
            <a:avLst/>
          </a:prstGeom>
          <a:solidFill>
            <a:srgbClr val="16273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777240" y="315468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6E83A2"/>
                </a:solidFill>
                <a:latin typeface="Noto Sans KR"/>
                <a:ea typeface="Noto Sans KR"/>
              </a:rPr>
              <a:t>ENTRY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2286000" y="31546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299">
                <a:solidFill>
                  <a:srgbClr val="6E83A2"/>
                </a:solidFill>
                <a:latin typeface="Noto Sans KR"/>
                <a:ea typeface="Noto Sans KR"/>
              </a:rPr>
              <a:t>설 명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2"/>
          <p:cNvSpPr/>
          <p:nvPr/>
        </p:nvSpPr>
        <p:spPr>
          <a:xfrm>
            <a:off x="4434840" y="31546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199">
                <a:solidFill>
                  <a:srgbClr val="6E83A2"/>
                </a:solidFill>
                <a:latin typeface="Noto Sans KR"/>
                <a:ea typeface="Noto Sans KR"/>
              </a:rPr>
              <a:t>FORM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777240" y="3520440"/>
            <a:ext cx="15084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5EEAD4"/>
                </a:solidFill>
                <a:latin typeface="Noto Sans KR"/>
                <a:ea typeface="Noto Sans KR"/>
              </a:rPr>
              <a:t>CLI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2286000" y="352044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analyze · apply · undo </a:t>
            </a:r>
            <a:r>
              <a:rPr lang="zh-CN" sz="11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명령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4343400" y="352044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strike="noStrike" spc="-1">
                <a:solidFill>
                  <a:srgbClr val="FB923C"/>
                </a:solidFill>
                <a:latin typeface="Noto Sans KR"/>
                <a:ea typeface="Noto Sans KR"/>
              </a:rPr>
              <a:t>터미널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16"/>
          <p:cNvSpPr/>
          <p:nvPr/>
        </p:nvSpPr>
        <p:spPr>
          <a:xfrm>
            <a:off x="731520" y="4069080"/>
            <a:ext cx="4663440" cy="360"/>
          </a:xfrm>
          <a:prstGeom prst="line">
            <a:avLst/>
          </a:prstGeom>
          <a:ln w="9525">
            <a:solidFill>
              <a:srgbClr val="1B2D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777240" y="4069080"/>
            <a:ext cx="15084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5EEAD4"/>
                </a:solidFill>
                <a:latin typeface="Noto Sans KR"/>
                <a:ea typeface="Noto Sans KR"/>
              </a:rPr>
              <a:t>Web UI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8"/>
          <p:cNvSpPr/>
          <p:nvPr/>
        </p:nvSpPr>
        <p:spPr>
          <a:xfrm>
            <a:off x="2286000" y="406908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지표</a:t>
            </a:r>
            <a:r>
              <a:rPr lang="en-US" sz="11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lang="zh-CN" sz="11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탭</a:t>
            </a:r>
            <a:r>
              <a:rPr lang="en-US" sz="11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lang="zh-CN" sz="11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미리보기</a:t>
            </a:r>
            <a:r>
              <a:rPr lang="en-US" sz="11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lang="zh-CN" sz="11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다운로드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9"/>
          <p:cNvSpPr/>
          <p:nvPr/>
        </p:nvSpPr>
        <p:spPr>
          <a:xfrm>
            <a:off x="4343400" y="406908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B923C"/>
                </a:solidFill>
                <a:latin typeface="Noto Sans KR"/>
                <a:ea typeface="Noto Sans KR"/>
              </a:rPr>
              <a:t>Streamlit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20"/>
          <p:cNvSpPr/>
          <p:nvPr/>
        </p:nvSpPr>
        <p:spPr>
          <a:xfrm>
            <a:off x="731520" y="4617720"/>
            <a:ext cx="4663440" cy="360"/>
          </a:xfrm>
          <a:prstGeom prst="line">
            <a:avLst/>
          </a:prstGeom>
          <a:ln w="9525">
            <a:solidFill>
              <a:srgbClr val="1B2D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21"/>
          <p:cNvSpPr/>
          <p:nvPr/>
        </p:nvSpPr>
        <p:spPr>
          <a:xfrm>
            <a:off x="777240" y="4617720"/>
            <a:ext cx="15084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5EEAD4"/>
                </a:solidFill>
                <a:latin typeface="Noto Sans KR"/>
                <a:ea typeface="Noto Sans KR"/>
              </a:rPr>
              <a:t>EXE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22"/>
          <p:cNvSpPr/>
          <p:nvPr/>
        </p:nvSpPr>
        <p:spPr>
          <a:xfrm>
            <a:off x="2286000" y="461772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단일 실행파일 </a:t>
            </a:r>
            <a:r>
              <a:rPr lang="en-US" sz="11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(CLI)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23"/>
          <p:cNvSpPr/>
          <p:nvPr/>
        </p:nvSpPr>
        <p:spPr>
          <a:xfrm>
            <a:off x="4343400" y="461772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B923C"/>
                </a:solidFill>
                <a:latin typeface="Noto Sans KR"/>
                <a:ea typeface="Noto Sans KR"/>
              </a:rPr>
              <a:t>PyInstaller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24"/>
          <p:cNvSpPr/>
          <p:nvPr/>
        </p:nvSpPr>
        <p:spPr>
          <a:xfrm>
            <a:off x="731520" y="5166360"/>
            <a:ext cx="4663440" cy="360"/>
          </a:xfrm>
          <a:prstGeom prst="line">
            <a:avLst/>
          </a:prstGeom>
          <a:ln w="9525">
            <a:solidFill>
              <a:srgbClr val="1B2D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25"/>
          <p:cNvSpPr/>
          <p:nvPr/>
        </p:nvSpPr>
        <p:spPr>
          <a:xfrm>
            <a:off x="777240" y="5166360"/>
            <a:ext cx="15084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5EEAD4"/>
                </a:solidFill>
                <a:latin typeface="Noto Sans KR"/>
                <a:ea typeface="Noto Sans KR"/>
              </a:rPr>
              <a:t>init-config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26"/>
          <p:cNvSpPr/>
          <p:nvPr/>
        </p:nvSpPr>
        <p:spPr>
          <a:xfrm>
            <a:off x="2286000" y="516636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편집 가능한 설정 생성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27"/>
          <p:cNvSpPr/>
          <p:nvPr/>
        </p:nvSpPr>
        <p:spPr>
          <a:xfrm>
            <a:off x="4343400" y="516636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FB923C"/>
                </a:solidFill>
                <a:latin typeface="Noto Sans KR"/>
                <a:ea typeface="Noto Sans KR"/>
              </a:rPr>
              <a:t>JSON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28"/>
          <p:cNvSpPr/>
          <p:nvPr/>
        </p:nvSpPr>
        <p:spPr>
          <a:xfrm>
            <a:off x="6537960" y="22402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PIPELINE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29"/>
          <p:cNvSpPr/>
          <p:nvPr/>
        </p:nvSpPr>
        <p:spPr>
          <a:xfrm>
            <a:off x="6519600" y="2487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2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처리 흐름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30"/>
          <p:cNvSpPr/>
          <p:nvPr/>
        </p:nvSpPr>
        <p:spPr>
          <a:xfrm>
            <a:off x="6537960" y="3063240"/>
            <a:ext cx="5120280" cy="566640"/>
          </a:xfrm>
          <a:prstGeom prst="rect">
            <a:avLst/>
          </a:prstGeom>
          <a:solidFill>
            <a:srgbClr val="111F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31"/>
          <p:cNvSpPr/>
          <p:nvPr/>
        </p:nvSpPr>
        <p:spPr>
          <a:xfrm>
            <a:off x="6537960" y="3063240"/>
            <a:ext cx="54360" cy="56664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2"/>
          <p:cNvSpPr/>
          <p:nvPr/>
        </p:nvSpPr>
        <p:spPr>
          <a:xfrm>
            <a:off x="6693480" y="3063240"/>
            <a:ext cx="6397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F4883C"/>
                </a:solidFill>
                <a:latin typeface="Noto Sans KR"/>
                <a:ea typeface="Noto Sans KR"/>
              </a:rPr>
              <a:t>01</a:t>
            </a:r>
            <a:endParaRPr lang="en-US" sz="2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33"/>
          <p:cNvSpPr/>
          <p:nvPr/>
        </p:nvSpPr>
        <p:spPr>
          <a:xfrm>
            <a:off x="7360920" y="31273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스캔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34"/>
          <p:cNvSpPr/>
          <p:nvPr/>
        </p:nvSpPr>
        <p:spPr>
          <a:xfrm>
            <a:off x="7360920" y="338328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폴더 파일 수집 </a:t>
            </a:r>
            <a:r>
              <a:rPr lang="en-US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(</a:t>
            </a: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최상위</a:t>
            </a:r>
            <a:r>
              <a:rPr lang="en-US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/</a:t>
            </a: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재귀</a:t>
            </a:r>
            <a:r>
              <a:rPr lang="en-US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)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35"/>
          <p:cNvSpPr/>
          <p:nvPr/>
        </p:nvSpPr>
        <p:spPr>
          <a:xfrm>
            <a:off x="6537960" y="3740040"/>
            <a:ext cx="5120280" cy="566640"/>
          </a:xfrm>
          <a:prstGeom prst="rect">
            <a:avLst/>
          </a:prstGeom>
          <a:solidFill>
            <a:srgbClr val="111F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36"/>
          <p:cNvSpPr/>
          <p:nvPr/>
        </p:nvSpPr>
        <p:spPr>
          <a:xfrm>
            <a:off x="6537960" y="3740040"/>
            <a:ext cx="54360" cy="56664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37"/>
          <p:cNvSpPr/>
          <p:nvPr/>
        </p:nvSpPr>
        <p:spPr>
          <a:xfrm>
            <a:off x="6693480" y="3740040"/>
            <a:ext cx="6397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F4883C"/>
                </a:solidFill>
                <a:latin typeface="Noto Sans KR"/>
                <a:ea typeface="Noto Sans KR"/>
              </a:rPr>
              <a:t>02</a:t>
            </a:r>
            <a:endParaRPr lang="en-US" sz="2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38"/>
          <p:cNvSpPr/>
          <p:nvPr/>
        </p:nvSpPr>
        <p:spPr>
          <a:xfrm>
            <a:off x="7360920" y="38037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분석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39"/>
          <p:cNvSpPr/>
          <p:nvPr/>
        </p:nvSpPr>
        <p:spPr>
          <a:xfrm>
            <a:off x="7360920" y="406008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유형 분류 </a:t>
            </a:r>
            <a:r>
              <a:rPr lang="en-US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 </a:t>
            </a: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중복 </a:t>
            </a:r>
            <a:r>
              <a:rPr lang="en-US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 </a:t>
            </a: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오래된 파일 판정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40"/>
          <p:cNvSpPr/>
          <p:nvPr/>
        </p:nvSpPr>
        <p:spPr>
          <a:xfrm>
            <a:off x="6537960" y="4416480"/>
            <a:ext cx="5120280" cy="566640"/>
          </a:xfrm>
          <a:prstGeom prst="rect">
            <a:avLst/>
          </a:prstGeom>
          <a:solidFill>
            <a:srgbClr val="111F3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41"/>
          <p:cNvSpPr/>
          <p:nvPr/>
        </p:nvSpPr>
        <p:spPr>
          <a:xfrm>
            <a:off x="6537960" y="4416480"/>
            <a:ext cx="54360" cy="56664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42"/>
          <p:cNvSpPr/>
          <p:nvPr/>
        </p:nvSpPr>
        <p:spPr>
          <a:xfrm>
            <a:off x="6693480" y="4416480"/>
            <a:ext cx="6397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F4883C"/>
                </a:solidFill>
                <a:latin typeface="Noto Sans KR"/>
                <a:ea typeface="Noto Sans KR"/>
              </a:rPr>
              <a:t>03</a:t>
            </a:r>
            <a:endParaRPr lang="en-US" sz="2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43"/>
          <p:cNvSpPr/>
          <p:nvPr/>
        </p:nvSpPr>
        <p:spPr>
          <a:xfrm>
            <a:off x="7360920" y="44805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계획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44"/>
          <p:cNvSpPr/>
          <p:nvPr/>
        </p:nvSpPr>
        <p:spPr>
          <a:xfrm>
            <a:off x="7360920" y="473652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이동 계획 </a:t>
            </a:r>
            <a:r>
              <a:rPr lang="en-US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+ </a:t>
            </a: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확인 토큰 생성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45"/>
          <p:cNvSpPr/>
          <p:nvPr/>
        </p:nvSpPr>
        <p:spPr>
          <a:xfrm>
            <a:off x="6537960" y="5093280"/>
            <a:ext cx="5120280" cy="566640"/>
          </a:xfrm>
          <a:prstGeom prst="rect">
            <a:avLst/>
          </a:prstGeom>
          <a:solidFill>
            <a:srgbClr val="13352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46"/>
          <p:cNvSpPr/>
          <p:nvPr/>
        </p:nvSpPr>
        <p:spPr>
          <a:xfrm>
            <a:off x="6537960" y="5093280"/>
            <a:ext cx="54360" cy="5666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47"/>
          <p:cNvSpPr/>
          <p:nvPr/>
        </p:nvSpPr>
        <p:spPr>
          <a:xfrm>
            <a:off x="6693480" y="5093280"/>
            <a:ext cx="6397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5EEAD4"/>
                </a:solidFill>
                <a:latin typeface="Noto Sans KR"/>
                <a:ea typeface="Noto Sans KR"/>
              </a:rPr>
              <a:t>04</a:t>
            </a:r>
            <a:endParaRPr lang="en-US" sz="2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48"/>
          <p:cNvSpPr/>
          <p:nvPr/>
        </p:nvSpPr>
        <p:spPr>
          <a:xfrm>
            <a:off x="7360920" y="51573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보고 </a:t>
            </a:r>
            <a:r>
              <a:rPr lang="en-US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lang="zh-CN" sz="14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적용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49"/>
          <p:cNvSpPr/>
          <p:nvPr/>
        </p:nvSpPr>
        <p:spPr>
          <a:xfrm>
            <a:off x="7360920" y="541332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보고서 출력 → 안전 이동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03  ·  WORKFLOW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안전 </a:t>
            </a:r>
            <a:r>
              <a:rPr lang="en-US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3</a:t>
            </a: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단계 워크플로우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analyze → apply → undo —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토큰으로 묶인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검토된 계획만 실행됩니다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93A3BA"/>
                </a:solidFill>
                <a:latin typeface="Noto Sans KR"/>
                <a:ea typeface="Noto Sans KR"/>
              </a:rPr>
              <a:t>04</a:t>
            </a:r>
            <a:r>
              <a:rPr lang="en-US" sz="1100" b="0" strike="noStrike" spc="97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248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6"/>
          <p:cNvSpPr/>
          <p:nvPr/>
        </p:nvSpPr>
        <p:spPr>
          <a:xfrm>
            <a:off x="502920" y="2286000"/>
            <a:ext cx="3702960" cy="29714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7"/>
          <p:cNvSpPr/>
          <p:nvPr/>
        </p:nvSpPr>
        <p:spPr>
          <a:xfrm>
            <a:off x="502920" y="2286000"/>
            <a:ext cx="3702960" cy="6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777240" y="2468880"/>
            <a:ext cx="1188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5EEAD4"/>
                </a:solidFill>
                <a:latin typeface="Noto Sans KR"/>
                <a:ea typeface="Noto Sans KR"/>
              </a:rPr>
              <a:t>01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3337560" y="2541960"/>
            <a:ext cx="502560" cy="502560"/>
          </a:xfrm>
          <a:prstGeom prst="roundRect">
            <a:avLst>
              <a:gd name="adj" fmla="val 10909"/>
            </a:avLst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Image 0" descr="/home/claude/icons/search_white.png"/>
          <p:cNvPicPr/>
          <p:nvPr/>
        </p:nvPicPr>
        <p:blipFill>
          <a:blip r:embed="rId3"/>
          <a:stretch/>
        </p:blipFill>
        <p:spPr>
          <a:xfrm>
            <a:off x="3456360" y="266076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148" name="Text 10"/>
          <p:cNvSpPr/>
          <p:nvPr/>
        </p:nvSpPr>
        <p:spPr>
          <a:xfrm>
            <a:off x="795600" y="31089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ANALYZE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1"/>
          <p:cNvSpPr/>
          <p:nvPr/>
        </p:nvSpPr>
        <p:spPr>
          <a:xfrm>
            <a:off x="777240" y="331020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분석 </a:t>
            </a:r>
            <a:r>
              <a:rPr lang="en-US" sz="19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(</a:t>
            </a:r>
            <a:r>
              <a:rPr lang="zh-CN" sz="19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미리보기</a:t>
            </a:r>
            <a:r>
              <a:rPr lang="en-US" sz="19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)</a:t>
            </a:r>
            <a:endParaRPr lang="en-US" sz="1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777240" y="3730680"/>
            <a:ext cx="3154320" cy="292320"/>
          </a:xfrm>
          <a:prstGeom prst="roundRect">
            <a:avLst>
              <a:gd name="adj" fmla="val 9375"/>
            </a:avLst>
          </a:prstGeom>
          <a:solidFill>
            <a:srgbClr val="0A1421"/>
          </a:solidFill>
          <a:ln w="9525">
            <a:solidFill>
              <a:srgbClr val="2236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887040" y="37306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5EEAD4"/>
                </a:solidFill>
                <a:latin typeface="DejaVu Sans Mono"/>
                <a:ea typeface="DejaVu Sans Mono"/>
              </a:rPr>
              <a:t>analyze --scan-root ...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777240" y="41331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2DD4BF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분류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중복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오래된 파일 미리보기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15"/>
          <p:cNvSpPr/>
          <p:nvPr/>
        </p:nvSpPr>
        <p:spPr>
          <a:xfrm>
            <a:off x="777240" y="44258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2DD4BF"/>
                </a:solidFill>
                <a:latin typeface="Noto Sans KR"/>
                <a:ea typeface="Noto Sans KR"/>
              </a:rPr>
              <a:t>● 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MD · HTML · Excel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보고서 생성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777240" y="47181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2DD4BF"/>
                </a:solidFill>
                <a:latin typeface="Noto Sans KR"/>
                <a:ea typeface="Noto Sans KR"/>
              </a:rPr>
              <a:t>● 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12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자리 계획 토큰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(plan token)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발급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17"/>
          <p:cNvSpPr/>
          <p:nvPr/>
        </p:nvSpPr>
        <p:spPr>
          <a:xfrm>
            <a:off x="4224600" y="2286000"/>
            <a:ext cx="3702960" cy="29714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18"/>
          <p:cNvSpPr/>
          <p:nvPr/>
        </p:nvSpPr>
        <p:spPr>
          <a:xfrm>
            <a:off x="4224600" y="2286000"/>
            <a:ext cx="3702960" cy="6372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9"/>
          <p:cNvSpPr/>
          <p:nvPr/>
        </p:nvSpPr>
        <p:spPr>
          <a:xfrm>
            <a:off x="4498920" y="2468880"/>
            <a:ext cx="1188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B923C"/>
                </a:solidFill>
                <a:latin typeface="Noto Sans KR"/>
                <a:ea typeface="Noto Sans KR"/>
              </a:rPr>
              <a:t>02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20"/>
          <p:cNvSpPr/>
          <p:nvPr/>
        </p:nvSpPr>
        <p:spPr>
          <a:xfrm>
            <a:off x="7059240" y="2541960"/>
            <a:ext cx="502560" cy="502560"/>
          </a:xfrm>
          <a:prstGeom prst="roundRect">
            <a:avLst>
              <a:gd name="adj" fmla="val 10909"/>
            </a:avLst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Image 1" descr="/home/claude/icons/move_white.png"/>
          <p:cNvPicPr/>
          <p:nvPr/>
        </p:nvPicPr>
        <p:blipFill>
          <a:blip r:embed="rId4"/>
          <a:stretch/>
        </p:blipFill>
        <p:spPr>
          <a:xfrm>
            <a:off x="7178040" y="266076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160" name="Text 21"/>
          <p:cNvSpPr/>
          <p:nvPr/>
        </p:nvSpPr>
        <p:spPr>
          <a:xfrm>
            <a:off x="4517280" y="31089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299">
                <a:solidFill>
                  <a:srgbClr val="F4883C"/>
                </a:solidFill>
                <a:latin typeface="Noto Sans KR"/>
                <a:ea typeface="Noto Sans KR"/>
              </a:rPr>
              <a:t>APPLY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22"/>
          <p:cNvSpPr/>
          <p:nvPr/>
        </p:nvSpPr>
        <p:spPr>
          <a:xfrm>
            <a:off x="4498920" y="331020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적용 </a:t>
            </a:r>
            <a:r>
              <a:rPr lang="en-US" sz="19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(</a:t>
            </a:r>
            <a:r>
              <a:rPr lang="zh-CN" sz="19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이동</a:t>
            </a:r>
            <a:r>
              <a:rPr lang="en-US" sz="19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)</a:t>
            </a:r>
            <a:endParaRPr lang="en-US" sz="1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23"/>
          <p:cNvSpPr/>
          <p:nvPr/>
        </p:nvSpPr>
        <p:spPr>
          <a:xfrm>
            <a:off x="4498920" y="3730680"/>
            <a:ext cx="3154320" cy="292320"/>
          </a:xfrm>
          <a:prstGeom prst="roundRect">
            <a:avLst>
              <a:gd name="adj" fmla="val 9375"/>
            </a:avLst>
          </a:prstGeom>
          <a:solidFill>
            <a:srgbClr val="0A1421"/>
          </a:solidFill>
          <a:ln w="9525">
            <a:solidFill>
              <a:srgbClr val="2236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24"/>
          <p:cNvSpPr/>
          <p:nvPr/>
        </p:nvSpPr>
        <p:spPr>
          <a:xfrm>
            <a:off x="4608720" y="37306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FB923C"/>
                </a:solidFill>
                <a:latin typeface="DejaVu Sans Mono"/>
                <a:ea typeface="DejaVu Sans Mono"/>
              </a:rPr>
              <a:t>apply --confirm-code &lt;TOKEN&gt;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25"/>
          <p:cNvSpPr/>
          <p:nvPr/>
        </p:nvSpPr>
        <p:spPr>
          <a:xfrm>
            <a:off x="4498920" y="41331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F4883C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토큰 없거나 틀리면 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100%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차단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26"/>
          <p:cNvSpPr/>
          <p:nvPr/>
        </p:nvSpPr>
        <p:spPr>
          <a:xfrm>
            <a:off x="4498920" y="44258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F4883C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계획이 바뀌면 토큰도 달라짐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27"/>
          <p:cNvSpPr/>
          <p:nvPr/>
        </p:nvSpPr>
        <p:spPr>
          <a:xfrm>
            <a:off x="4498920" y="47181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F4883C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한 건씩 이력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(history)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에 기록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28"/>
          <p:cNvSpPr/>
          <p:nvPr/>
        </p:nvSpPr>
        <p:spPr>
          <a:xfrm>
            <a:off x="7946280" y="2286000"/>
            <a:ext cx="3702960" cy="29714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29"/>
          <p:cNvSpPr/>
          <p:nvPr/>
        </p:nvSpPr>
        <p:spPr>
          <a:xfrm>
            <a:off x="7946280" y="2286000"/>
            <a:ext cx="3702960" cy="6372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30"/>
          <p:cNvSpPr/>
          <p:nvPr/>
        </p:nvSpPr>
        <p:spPr>
          <a:xfrm>
            <a:off x="8220600" y="2468880"/>
            <a:ext cx="1188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BCA4FB"/>
                </a:solidFill>
                <a:latin typeface="Noto Sans KR"/>
                <a:ea typeface="Noto Sans KR"/>
              </a:rPr>
              <a:t>03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31"/>
          <p:cNvSpPr/>
          <p:nvPr/>
        </p:nvSpPr>
        <p:spPr>
          <a:xfrm>
            <a:off x="10780920" y="2541960"/>
            <a:ext cx="502560" cy="502560"/>
          </a:xfrm>
          <a:prstGeom prst="roundRect">
            <a:avLst>
              <a:gd name="adj" fmla="val 10909"/>
            </a:avLst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Image 2" descr="/home/claude/icons/undo_white.png"/>
          <p:cNvPicPr/>
          <p:nvPr/>
        </p:nvPicPr>
        <p:blipFill>
          <a:blip r:embed="rId5"/>
          <a:stretch/>
        </p:blipFill>
        <p:spPr>
          <a:xfrm>
            <a:off x="10899720" y="266076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172" name="Text 32"/>
          <p:cNvSpPr/>
          <p:nvPr/>
        </p:nvSpPr>
        <p:spPr>
          <a:xfrm>
            <a:off x="8238600" y="31089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299">
                <a:solidFill>
                  <a:srgbClr val="A78BFA"/>
                </a:solidFill>
                <a:latin typeface="Noto Sans KR"/>
                <a:ea typeface="Noto Sans KR"/>
              </a:rPr>
              <a:t>UNDO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33"/>
          <p:cNvSpPr/>
          <p:nvPr/>
        </p:nvSpPr>
        <p:spPr>
          <a:xfrm>
            <a:off x="8220600" y="331020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되돌리기</a:t>
            </a:r>
            <a:endParaRPr lang="en-US" sz="1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34"/>
          <p:cNvSpPr/>
          <p:nvPr/>
        </p:nvSpPr>
        <p:spPr>
          <a:xfrm>
            <a:off x="8220600" y="3730680"/>
            <a:ext cx="3154320" cy="292320"/>
          </a:xfrm>
          <a:prstGeom prst="roundRect">
            <a:avLst>
              <a:gd name="adj" fmla="val 9375"/>
            </a:avLst>
          </a:prstGeom>
          <a:solidFill>
            <a:srgbClr val="0A1421"/>
          </a:solidFill>
          <a:ln w="9525">
            <a:solidFill>
              <a:srgbClr val="22364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35"/>
          <p:cNvSpPr/>
          <p:nvPr/>
        </p:nvSpPr>
        <p:spPr>
          <a:xfrm>
            <a:off x="8330040" y="37306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BCA4FB"/>
                </a:solidFill>
                <a:latin typeface="DejaVu Sans Mono"/>
                <a:ea typeface="DejaVu Sans Mono"/>
              </a:rPr>
              <a:t>undo --history-file ... --preview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36"/>
          <p:cNvSpPr/>
          <p:nvPr/>
        </p:nvSpPr>
        <p:spPr>
          <a:xfrm>
            <a:off x="8220600" y="41331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A78BFA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복원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/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건너뜀 사전 확인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(preview)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37"/>
          <p:cNvSpPr/>
          <p:nvPr/>
        </p:nvSpPr>
        <p:spPr>
          <a:xfrm>
            <a:off x="8220600" y="44258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A78BFA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원위치 점유 시 덮어쓰지 않고 건너뜀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38"/>
          <p:cNvSpPr/>
          <p:nvPr/>
        </p:nvSpPr>
        <p:spPr>
          <a:xfrm>
            <a:off x="8220600" y="47181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A78BFA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중간 실패에도 복원 가능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39"/>
          <p:cNvSpPr/>
          <p:nvPr/>
        </p:nvSpPr>
        <p:spPr>
          <a:xfrm>
            <a:off x="3822120" y="3611880"/>
            <a:ext cx="365400" cy="292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40"/>
          <p:cNvSpPr/>
          <p:nvPr/>
        </p:nvSpPr>
        <p:spPr>
          <a:xfrm>
            <a:off x="7543800" y="3611880"/>
            <a:ext cx="365400" cy="292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41"/>
          <p:cNvSpPr/>
          <p:nvPr/>
        </p:nvSpPr>
        <p:spPr>
          <a:xfrm>
            <a:off x="502920" y="5440680"/>
            <a:ext cx="11155320" cy="639720"/>
          </a:xfrm>
          <a:prstGeom prst="rect">
            <a:avLst/>
          </a:prstGeom>
          <a:solidFill>
            <a:srgbClr val="13243B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2" name="Image 3" descr="/home/claude/icons/key_teal.png"/>
          <p:cNvPicPr/>
          <p:nvPr/>
        </p:nvPicPr>
        <p:blipFill>
          <a:blip r:embed="rId6"/>
          <a:stretch/>
        </p:blipFill>
        <p:spPr>
          <a:xfrm>
            <a:off x="713160" y="56052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83" name="Text 42"/>
          <p:cNvSpPr/>
          <p:nvPr/>
        </p:nvSpPr>
        <p:spPr>
          <a:xfrm>
            <a:off x="1097280" y="544068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50" b="1" strike="noStrike" spc="-1">
                <a:solidFill>
                  <a:srgbClr val="5EEAD4"/>
                </a:solidFill>
                <a:latin typeface="Noto Sans KR"/>
                <a:ea typeface="Noto Sans KR"/>
              </a:rPr>
              <a:t>계획 토큰</a:t>
            </a:r>
            <a:r>
              <a:rPr lang="en-US" sz="1250" b="1" strike="noStrike" spc="-1">
                <a:solidFill>
                  <a:srgbClr val="5EEAD4"/>
                </a:solidFill>
                <a:latin typeface="Noto Sans KR"/>
                <a:ea typeface="Noto Sans KR"/>
              </a:rPr>
              <a:t>(plan token)</a:t>
            </a:r>
            <a:r>
              <a:rPr lang="en-US" sz="12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 = </a:t>
            </a:r>
            <a:r>
              <a:rPr lang="zh-CN" sz="12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이동 계획의 </a:t>
            </a:r>
            <a:r>
              <a:rPr lang="en-US" sz="12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SHA-256 </a:t>
            </a:r>
            <a:r>
              <a:rPr lang="zh-CN" sz="12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지문 → 검토하지 않았거나 폴더가 바뀐 </a:t>
            </a:r>
            <a:r>
              <a:rPr lang="zh-CN" sz="12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오래된 계획은 실수로도 적용 불가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04  ·  CLASSIFICATION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파일 분석</a:t>
            </a:r>
            <a:r>
              <a:rPr lang="en-US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분류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확장자 기반 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8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개 유형 자동 분류 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+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날짜별 하위 폴더 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+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선택적 적용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93A3BA"/>
                </a:solidFill>
                <a:latin typeface="Noto Sans KR"/>
                <a:ea typeface="Noto Sans KR"/>
              </a:rPr>
              <a:t>05</a:t>
            </a:r>
            <a:r>
              <a:rPr lang="en-US" sz="1100" b="0" strike="noStrike" spc="97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248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6"/>
          <p:cNvSpPr/>
          <p:nvPr/>
        </p:nvSpPr>
        <p:spPr>
          <a:xfrm>
            <a:off x="502920" y="228600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758880" y="2541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Image 0" descr="/home/claude/icons/filealt_white.png"/>
          <p:cNvPicPr/>
          <p:nvPr/>
        </p:nvPicPr>
        <p:blipFill>
          <a:blip r:embed="rId3"/>
          <a:stretch/>
        </p:blipFill>
        <p:spPr>
          <a:xfrm>
            <a:off x="86868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193" name="Text 8"/>
          <p:cNvSpPr/>
          <p:nvPr/>
        </p:nvSpPr>
        <p:spPr>
          <a:xfrm>
            <a:off x="1371600" y="252360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documents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9"/>
          <p:cNvSpPr/>
          <p:nvPr/>
        </p:nvSpPr>
        <p:spPr>
          <a:xfrm>
            <a:off x="1371600" y="283464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pdf · docx · hwp · xlsx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10"/>
          <p:cNvSpPr/>
          <p:nvPr/>
        </p:nvSpPr>
        <p:spPr>
          <a:xfrm>
            <a:off x="3300840" y="228600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11"/>
          <p:cNvSpPr/>
          <p:nvPr/>
        </p:nvSpPr>
        <p:spPr>
          <a:xfrm>
            <a:off x="3557160" y="2541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5B9B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7" name="Image 1" descr="/home/claude/icons/image_white.png"/>
          <p:cNvPicPr/>
          <p:nvPr/>
        </p:nvPicPr>
        <p:blipFill>
          <a:blip r:embed="rId4"/>
          <a:stretch/>
        </p:blipFill>
        <p:spPr>
          <a:xfrm>
            <a:off x="366660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198" name="Text 12"/>
          <p:cNvSpPr/>
          <p:nvPr/>
        </p:nvSpPr>
        <p:spPr>
          <a:xfrm>
            <a:off x="4169520" y="252360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images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4169520" y="283464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jpg · png · gif · svg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6099120" y="228600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6355080" y="2541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Image 2" descr="/home/claude/icons/film_white.png"/>
          <p:cNvPicPr/>
          <p:nvPr/>
        </p:nvPicPr>
        <p:blipFill>
          <a:blip r:embed="rId5"/>
          <a:stretch/>
        </p:blipFill>
        <p:spPr>
          <a:xfrm>
            <a:off x="646488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03" name="Text 16"/>
          <p:cNvSpPr/>
          <p:nvPr/>
        </p:nvSpPr>
        <p:spPr>
          <a:xfrm>
            <a:off x="6967800" y="252360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videos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6967800" y="283464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mp4 · mkv · mov · avi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18"/>
          <p:cNvSpPr/>
          <p:nvPr/>
        </p:nvSpPr>
        <p:spPr>
          <a:xfrm>
            <a:off x="8897040" y="228600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19"/>
          <p:cNvSpPr/>
          <p:nvPr/>
        </p:nvSpPr>
        <p:spPr>
          <a:xfrm>
            <a:off x="9153000" y="2541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Image 3" descr="/home/claude/icons/music_white.png"/>
          <p:cNvPicPr/>
          <p:nvPr/>
        </p:nvPicPr>
        <p:blipFill>
          <a:blip r:embed="rId6"/>
          <a:stretch/>
        </p:blipFill>
        <p:spPr>
          <a:xfrm>
            <a:off x="926280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08" name="Text 20"/>
          <p:cNvSpPr/>
          <p:nvPr/>
        </p:nvSpPr>
        <p:spPr>
          <a:xfrm>
            <a:off x="9765720" y="252360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audio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21"/>
          <p:cNvSpPr/>
          <p:nvPr/>
        </p:nvSpPr>
        <p:spPr>
          <a:xfrm>
            <a:off x="9765720" y="283464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mp3 · wav · flac · m4a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22"/>
          <p:cNvSpPr/>
          <p:nvPr/>
        </p:nvSpPr>
        <p:spPr>
          <a:xfrm>
            <a:off x="502920" y="382212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23"/>
          <p:cNvSpPr/>
          <p:nvPr/>
        </p:nvSpPr>
        <p:spPr>
          <a:xfrm>
            <a:off x="758880" y="40780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F5C1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Image 4" descr="/home/claude/icons/archive_white.png"/>
          <p:cNvPicPr/>
          <p:nvPr/>
        </p:nvPicPr>
        <p:blipFill>
          <a:blip r:embed="rId7"/>
          <a:stretch/>
        </p:blipFill>
        <p:spPr>
          <a:xfrm>
            <a:off x="868680" y="4187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13" name="Text 24"/>
          <p:cNvSpPr/>
          <p:nvPr/>
        </p:nvSpPr>
        <p:spPr>
          <a:xfrm>
            <a:off x="1371600" y="406008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archives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25"/>
          <p:cNvSpPr/>
          <p:nvPr/>
        </p:nvSpPr>
        <p:spPr>
          <a:xfrm>
            <a:off x="1371600" y="437076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zip · rar · 7z · tar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26"/>
          <p:cNvSpPr/>
          <p:nvPr/>
        </p:nvSpPr>
        <p:spPr>
          <a:xfrm>
            <a:off x="3300840" y="382212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27"/>
          <p:cNvSpPr/>
          <p:nvPr/>
        </p:nvSpPr>
        <p:spPr>
          <a:xfrm>
            <a:off x="3557160" y="40780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EE6B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7" name="Image 5" descr="/home/claude/icons/cog_white.png"/>
          <p:cNvPicPr/>
          <p:nvPr/>
        </p:nvPicPr>
        <p:blipFill>
          <a:blip r:embed="rId8"/>
          <a:stretch/>
        </p:blipFill>
        <p:spPr>
          <a:xfrm>
            <a:off x="3666600" y="4187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18" name="Text 28"/>
          <p:cNvSpPr/>
          <p:nvPr/>
        </p:nvSpPr>
        <p:spPr>
          <a:xfrm>
            <a:off x="4169520" y="406008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executables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29"/>
          <p:cNvSpPr/>
          <p:nvPr/>
        </p:nvSpPr>
        <p:spPr>
          <a:xfrm>
            <a:off x="4169520" y="437076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exe · msi · bat · ps1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30"/>
          <p:cNvSpPr/>
          <p:nvPr/>
        </p:nvSpPr>
        <p:spPr>
          <a:xfrm>
            <a:off x="6099120" y="382212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31"/>
          <p:cNvSpPr/>
          <p:nvPr/>
        </p:nvSpPr>
        <p:spPr>
          <a:xfrm>
            <a:off x="6355080" y="40780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5EEAD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Image 6" descr="/home/claude/icons/code_white.png"/>
          <p:cNvPicPr/>
          <p:nvPr/>
        </p:nvPicPr>
        <p:blipFill>
          <a:blip r:embed="rId9"/>
          <a:stretch/>
        </p:blipFill>
        <p:spPr>
          <a:xfrm>
            <a:off x="6464880" y="4187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23" name="Text 32"/>
          <p:cNvSpPr/>
          <p:nvPr/>
        </p:nvSpPr>
        <p:spPr>
          <a:xfrm>
            <a:off x="6967800" y="406008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code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33"/>
          <p:cNvSpPr/>
          <p:nvPr/>
        </p:nvSpPr>
        <p:spPr>
          <a:xfrm>
            <a:off x="6967800" y="437076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py · js · ts · ipynb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34"/>
          <p:cNvSpPr/>
          <p:nvPr/>
        </p:nvSpPr>
        <p:spPr>
          <a:xfrm>
            <a:off x="8897040" y="382212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35"/>
          <p:cNvSpPr/>
          <p:nvPr/>
        </p:nvSpPr>
        <p:spPr>
          <a:xfrm>
            <a:off x="9153000" y="40780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8FA0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7" name="Image 7" descr="/home/claude/icons/folder_white.png"/>
          <p:cNvPicPr/>
          <p:nvPr/>
        </p:nvPicPr>
        <p:blipFill>
          <a:blip r:embed="rId10"/>
          <a:stretch/>
        </p:blipFill>
        <p:spPr>
          <a:xfrm>
            <a:off x="9262800" y="4187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28" name="Text 36"/>
          <p:cNvSpPr/>
          <p:nvPr/>
        </p:nvSpPr>
        <p:spPr>
          <a:xfrm>
            <a:off x="9765720" y="406008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others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37"/>
          <p:cNvSpPr/>
          <p:nvPr/>
        </p:nvSpPr>
        <p:spPr>
          <a:xfrm>
            <a:off x="9765720" y="437076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그 외 모든 확장자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38"/>
          <p:cNvSpPr/>
          <p:nvPr/>
        </p:nvSpPr>
        <p:spPr>
          <a:xfrm>
            <a:off x="502920" y="5394960"/>
            <a:ext cx="3657240" cy="658080"/>
          </a:xfrm>
          <a:prstGeom prst="rect">
            <a:avLst/>
          </a:prstGeom>
          <a:solidFill>
            <a:srgbClr val="13243B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1" name="Image 8" descr="/home/claude/icons/sliders_teal.png"/>
          <p:cNvPicPr/>
          <p:nvPr/>
        </p:nvPicPr>
        <p:blipFill>
          <a:blip r:embed="rId11"/>
          <a:stretch/>
        </p:blipFill>
        <p:spPr>
          <a:xfrm>
            <a:off x="731520" y="55962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32" name="Text 39"/>
          <p:cNvSpPr/>
          <p:nvPr/>
        </p:nvSpPr>
        <p:spPr>
          <a:xfrm>
            <a:off x="1124640" y="54680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날짜별 분류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40"/>
          <p:cNvSpPr/>
          <p:nvPr/>
        </p:nvSpPr>
        <p:spPr>
          <a:xfrm>
            <a:off x="1124640" y="573336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none · year · month → documents/2025/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41"/>
          <p:cNvSpPr/>
          <p:nvPr/>
        </p:nvSpPr>
        <p:spPr>
          <a:xfrm>
            <a:off x="4270320" y="5394960"/>
            <a:ext cx="3657240" cy="658080"/>
          </a:xfrm>
          <a:prstGeom prst="rect">
            <a:avLst/>
          </a:prstGeom>
          <a:solidFill>
            <a:srgbClr val="13243B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5" name="Image 9" descr="/home/claude/icons/checkc_teal.png"/>
          <p:cNvPicPr/>
          <p:nvPr/>
        </p:nvPicPr>
        <p:blipFill>
          <a:blip r:embed="rId12"/>
          <a:stretch/>
        </p:blipFill>
        <p:spPr>
          <a:xfrm>
            <a:off x="4498920" y="55962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36" name="Text 42"/>
          <p:cNvSpPr/>
          <p:nvPr/>
        </p:nvSpPr>
        <p:spPr>
          <a:xfrm>
            <a:off x="4892040" y="54680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선택적 적용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43"/>
          <p:cNvSpPr/>
          <p:nvPr/>
        </p:nvSpPr>
        <p:spPr>
          <a:xfrm>
            <a:off x="4892040" y="573336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분류</a:t>
            </a:r>
            <a:r>
              <a:rPr lang="en-US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lang="zh-CN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파일 단위로 일부만 이동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44"/>
          <p:cNvSpPr/>
          <p:nvPr/>
        </p:nvSpPr>
        <p:spPr>
          <a:xfrm>
            <a:off x="8037720" y="5394960"/>
            <a:ext cx="3657240" cy="658080"/>
          </a:xfrm>
          <a:prstGeom prst="rect">
            <a:avLst/>
          </a:prstGeom>
          <a:solidFill>
            <a:srgbClr val="13243B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9" name="Image 10" descr="/home/claude/icons/search_teal.png"/>
          <p:cNvPicPr/>
          <p:nvPr/>
        </p:nvPicPr>
        <p:blipFill>
          <a:blip r:embed="rId13"/>
          <a:stretch/>
        </p:blipFill>
        <p:spPr>
          <a:xfrm>
            <a:off x="8266320" y="55962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40" name="Text 45"/>
          <p:cNvSpPr/>
          <p:nvPr/>
        </p:nvSpPr>
        <p:spPr>
          <a:xfrm>
            <a:off x="8659440" y="54680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재귀 스캔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46"/>
          <p:cNvSpPr/>
          <p:nvPr/>
        </p:nvSpPr>
        <p:spPr>
          <a:xfrm>
            <a:off x="8659440" y="573336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--recursive + </a:t>
            </a:r>
            <a:r>
              <a:rPr lang="zh-CN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폴더 제외</a:t>
            </a:r>
            <a:r>
              <a:rPr lang="en-US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lang="zh-CN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분류폴더 자동 제외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299">
                <a:solidFill>
                  <a:srgbClr val="F4883C"/>
                </a:solidFill>
                <a:latin typeface="Noto Sans KR"/>
                <a:ea typeface="Noto Sans KR"/>
              </a:rPr>
              <a:t>05  ·  DETECTION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중복 </a:t>
            </a:r>
            <a:r>
              <a:rPr lang="en-US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오래된 파일 탐지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2-pass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알고리즘 — 크기로 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1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차 그룹화 후 해시 비교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자동 삭제는 절대 없음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93A3BA"/>
                </a:solidFill>
                <a:latin typeface="Noto Sans KR"/>
                <a:ea typeface="Noto Sans KR"/>
              </a:rPr>
              <a:t>06</a:t>
            </a:r>
            <a:r>
              <a:rPr lang="en-US" sz="1100" b="0" strike="noStrike" spc="97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248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6"/>
          <p:cNvSpPr/>
          <p:nvPr/>
        </p:nvSpPr>
        <p:spPr>
          <a:xfrm>
            <a:off x="502920" y="2286000"/>
            <a:ext cx="7040520" cy="214848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7"/>
          <p:cNvSpPr/>
          <p:nvPr/>
        </p:nvSpPr>
        <p:spPr>
          <a:xfrm>
            <a:off x="777240" y="2468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6E83A2"/>
                </a:solidFill>
                <a:latin typeface="Noto Sans KR"/>
                <a:ea typeface="Noto Sans KR"/>
              </a:rPr>
              <a:t>2-PASS DUPLICATE DETECTION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8"/>
          <p:cNvSpPr/>
          <p:nvPr/>
        </p:nvSpPr>
        <p:spPr>
          <a:xfrm>
            <a:off x="868680" y="3063240"/>
            <a:ext cx="1416960" cy="776880"/>
          </a:xfrm>
          <a:prstGeom prst="roundRect">
            <a:avLst>
              <a:gd name="adj" fmla="val 5882"/>
            </a:avLst>
          </a:prstGeom>
          <a:solidFill>
            <a:srgbClr val="11213A"/>
          </a:solidFill>
          <a:ln w="15875">
            <a:solidFill>
              <a:srgbClr val="5C70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9"/>
          <p:cNvSpPr/>
          <p:nvPr/>
        </p:nvSpPr>
        <p:spPr>
          <a:xfrm>
            <a:off x="868680" y="319140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전체 파일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10"/>
          <p:cNvSpPr/>
          <p:nvPr/>
        </p:nvSpPr>
        <p:spPr>
          <a:xfrm>
            <a:off x="868680" y="348372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5C7088"/>
                </a:solidFill>
                <a:latin typeface="DejaVu Sans Mono"/>
                <a:ea typeface="DejaVu Sans Mono"/>
              </a:rPr>
              <a:t>scan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11"/>
          <p:cNvSpPr/>
          <p:nvPr/>
        </p:nvSpPr>
        <p:spPr>
          <a:xfrm>
            <a:off x="2304360" y="3337560"/>
            <a:ext cx="255600" cy="21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12"/>
          <p:cNvSpPr/>
          <p:nvPr/>
        </p:nvSpPr>
        <p:spPr>
          <a:xfrm>
            <a:off x="2578680" y="3063240"/>
            <a:ext cx="1416960" cy="776880"/>
          </a:xfrm>
          <a:prstGeom prst="roundRect">
            <a:avLst>
              <a:gd name="adj" fmla="val 5882"/>
            </a:avLst>
          </a:prstGeom>
          <a:solidFill>
            <a:srgbClr val="11213A"/>
          </a:solidFill>
          <a:ln w="1587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13"/>
          <p:cNvSpPr/>
          <p:nvPr/>
        </p:nvSpPr>
        <p:spPr>
          <a:xfrm>
            <a:off x="2578680" y="319140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크기별 그룹화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4"/>
          <p:cNvSpPr/>
          <p:nvPr/>
        </p:nvSpPr>
        <p:spPr>
          <a:xfrm>
            <a:off x="2578680" y="348372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2DD4BF"/>
                </a:solidFill>
                <a:latin typeface="DejaVu Sans Mono"/>
                <a:ea typeface="DejaVu Sans Mono"/>
              </a:rPr>
              <a:t>size group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15"/>
          <p:cNvSpPr/>
          <p:nvPr/>
        </p:nvSpPr>
        <p:spPr>
          <a:xfrm>
            <a:off x="4014360" y="3337560"/>
            <a:ext cx="255600" cy="21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16"/>
          <p:cNvSpPr/>
          <p:nvPr/>
        </p:nvSpPr>
        <p:spPr>
          <a:xfrm>
            <a:off x="4288680" y="3063240"/>
            <a:ext cx="1416960" cy="776880"/>
          </a:xfrm>
          <a:prstGeom prst="roundRect">
            <a:avLst>
              <a:gd name="adj" fmla="val 5882"/>
            </a:avLst>
          </a:prstGeom>
          <a:solidFill>
            <a:srgbClr val="11213A"/>
          </a:solidFill>
          <a:ln w="15875">
            <a:solidFill>
              <a:srgbClr val="F488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17"/>
          <p:cNvSpPr/>
          <p:nvPr/>
        </p:nvSpPr>
        <p:spPr>
          <a:xfrm>
            <a:off x="4288680" y="319140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해시 비교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8"/>
          <p:cNvSpPr/>
          <p:nvPr/>
        </p:nvSpPr>
        <p:spPr>
          <a:xfrm>
            <a:off x="4288680" y="348372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F4883C"/>
                </a:solidFill>
                <a:latin typeface="DejaVu Sans Mono"/>
                <a:ea typeface="DejaVu Sans Mono"/>
              </a:rPr>
              <a:t>SHA-256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19"/>
          <p:cNvSpPr/>
          <p:nvPr/>
        </p:nvSpPr>
        <p:spPr>
          <a:xfrm>
            <a:off x="5724000" y="3337560"/>
            <a:ext cx="255600" cy="21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20"/>
          <p:cNvSpPr/>
          <p:nvPr/>
        </p:nvSpPr>
        <p:spPr>
          <a:xfrm>
            <a:off x="5998320" y="3063240"/>
            <a:ext cx="1416960" cy="776880"/>
          </a:xfrm>
          <a:prstGeom prst="roundRect">
            <a:avLst>
              <a:gd name="adj" fmla="val 5882"/>
            </a:avLst>
          </a:prstGeom>
          <a:solidFill>
            <a:srgbClr val="11213A"/>
          </a:solidFill>
          <a:ln w="15875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21"/>
          <p:cNvSpPr/>
          <p:nvPr/>
        </p:nvSpPr>
        <p:spPr>
          <a:xfrm>
            <a:off x="5998320" y="319140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중복 그룹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22"/>
          <p:cNvSpPr/>
          <p:nvPr/>
        </p:nvSpPr>
        <p:spPr>
          <a:xfrm>
            <a:off x="5998320" y="348372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A78BFA"/>
                </a:solidFill>
                <a:latin typeface="DejaVu Sans Mono"/>
                <a:ea typeface="DejaVu Sans Mono"/>
              </a:rPr>
              <a:t>candidates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23"/>
          <p:cNvSpPr/>
          <p:nvPr/>
        </p:nvSpPr>
        <p:spPr>
          <a:xfrm>
            <a:off x="868680" y="4050720"/>
            <a:ext cx="6309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같은 크기일 때만 해시 계산 — 고유 크기 파일은 해시하지 않아 빠릅니다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24"/>
          <p:cNvSpPr/>
          <p:nvPr/>
        </p:nvSpPr>
        <p:spPr>
          <a:xfrm>
            <a:off x="502920" y="4617720"/>
            <a:ext cx="3428640" cy="1371240"/>
          </a:xfrm>
          <a:prstGeom prst="rect">
            <a:avLst/>
          </a:prstGeom>
          <a:solidFill>
            <a:srgbClr val="0F2A26"/>
          </a:solidFill>
          <a:ln w="12700">
            <a:solidFill>
              <a:srgbClr val="1E4A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25"/>
          <p:cNvSpPr/>
          <p:nvPr/>
        </p:nvSpPr>
        <p:spPr>
          <a:xfrm>
            <a:off x="758880" y="48006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DUP MODE · STRICT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26"/>
          <p:cNvSpPr/>
          <p:nvPr/>
        </p:nvSpPr>
        <p:spPr>
          <a:xfrm>
            <a:off x="758880" y="50565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전체 </a:t>
            </a:r>
            <a:r>
              <a:rPr lang="en-US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SHA-256 </a:t>
            </a:r>
            <a:r>
              <a:rPr lang="zh-CN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해시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27"/>
          <p:cNvSpPr/>
          <p:nvPr/>
        </p:nvSpPr>
        <p:spPr>
          <a:xfrm>
            <a:off x="758880" y="54039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정확 </a:t>
            </a:r>
            <a:r>
              <a:rPr lang="en-US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 </a:t>
            </a: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오탐 없음 </a:t>
            </a:r>
            <a:r>
              <a:rPr lang="en-US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(</a:t>
            </a: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기본값</a:t>
            </a:r>
            <a:r>
              <a:rPr lang="en-US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)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28"/>
          <p:cNvSpPr/>
          <p:nvPr/>
        </p:nvSpPr>
        <p:spPr>
          <a:xfrm>
            <a:off x="4114800" y="4617720"/>
            <a:ext cx="3428640" cy="1371240"/>
          </a:xfrm>
          <a:prstGeom prst="rect">
            <a:avLst/>
          </a:prstGeom>
          <a:solidFill>
            <a:srgbClr val="2A1F10"/>
          </a:solidFill>
          <a:ln w="12700">
            <a:solidFill>
              <a:srgbClr val="5A45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29"/>
          <p:cNvSpPr/>
          <p:nvPr/>
        </p:nvSpPr>
        <p:spPr>
          <a:xfrm>
            <a:off x="4370760" y="48006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F4883C"/>
                </a:solidFill>
                <a:latin typeface="Noto Sans KR"/>
                <a:ea typeface="Noto Sans KR"/>
              </a:rPr>
              <a:t>DUP MODE · FAST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30"/>
          <p:cNvSpPr/>
          <p:nvPr/>
        </p:nvSpPr>
        <p:spPr>
          <a:xfrm>
            <a:off x="4370760" y="50565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앞 </a:t>
            </a:r>
            <a:r>
              <a:rPr lang="en-US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1MB</a:t>
            </a:r>
            <a:r>
              <a:rPr lang="zh-CN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만 해시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31"/>
          <p:cNvSpPr/>
          <p:nvPr/>
        </p:nvSpPr>
        <p:spPr>
          <a:xfrm>
            <a:off x="4370760" y="54039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빠름 </a:t>
            </a:r>
            <a:r>
              <a:rPr lang="en-US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 </a:t>
            </a:r>
            <a:r>
              <a:rPr lang="zh-CN" sz="11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과다검출 가능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32"/>
          <p:cNvSpPr/>
          <p:nvPr/>
        </p:nvSpPr>
        <p:spPr>
          <a:xfrm>
            <a:off x="7818120" y="22860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299">
                <a:solidFill>
                  <a:srgbClr val="BCA4FB"/>
                </a:solidFill>
                <a:latin typeface="Noto Sans KR"/>
                <a:ea typeface="Noto Sans KR"/>
              </a:rPr>
              <a:t>▶ OLD FILES &amp; ROUTING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Shape 33"/>
          <p:cNvSpPr/>
          <p:nvPr/>
        </p:nvSpPr>
        <p:spPr>
          <a:xfrm>
            <a:off x="7818120" y="2606040"/>
            <a:ext cx="3840120" cy="15998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34"/>
          <p:cNvSpPr/>
          <p:nvPr/>
        </p:nvSpPr>
        <p:spPr>
          <a:xfrm>
            <a:off x="8074080" y="2797920"/>
            <a:ext cx="118440" cy="118440"/>
          </a:xfrm>
          <a:prstGeom prst="ellipse">
            <a:avLst/>
          </a:prstGeom>
          <a:solidFill>
            <a:srgbClr val="F5C1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35"/>
          <p:cNvSpPr/>
          <p:nvPr/>
        </p:nvSpPr>
        <p:spPr>
          <a:xfrm>
            <a:off x="8275320" y="26974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오래된 파일 탐지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36"/>
          <p:cNvSpPr/>
          <p:nvPr/>
        </p:nvSpPr>
        <p:spPr>
          <a:xfrm>
            <a:off x="8275320" y="293508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--old-days </a:t>
            </a:r>
            <a:r>
              <a:rPr lang="zh-CN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기준 </a:t>
            </a:r>
            <a:r>
              <a:rPr lang="en-US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(</a:t>
            </a:r>
            <a:r>
              <a:rPr lang="zh-CN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기본 </a:t>
            </a:r>
            <a:r>
              <a:rPr lang="en-US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180</a:t>
            </a:r>
            <a:r>
              <a:rPr lang="zh-CN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일</a:t>
            </a:r>
            <a:r>
              <a:rPr lang="en-US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)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Shape 37"/>
          <p:cNvSpPr/>
          <p:nvPr/>
        </p:nvSpPr>
        <p:spPr>
          <a:xfrm>
            <a:off x="8074080" y="3273480"/>
            <a:ext cx="118440" cy="11844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38"/>
          <p:cNvSpPr/>
          <p:nvPr/>
        </p:nvSpPr>
        <p:spPr>
          <a:xfrm>
            <a:off x="8275320" y="31730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검토 폴더 라우팅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39"/>
          <p:cNvSpPr/>
          <p:nvPr/>
        </p:nvSpPr>
        <p:spPr>
          <a:xfrm>
            <a:off x="8275320" y="341064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_old_files · _duplicates </a:t>
            </a:r>
            <a:r>
              <a:rPr lang="zh-CN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로 분리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40"/>
          <p:cNvSpPr/>
          <p:nvPr/>
        </p:nvSpPr>
        <p:spPr>
          <a:xfrm>
            <a:off x="8074080" y="3749040"/>
            <a:ext cx="118440" cy="11844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41"/>
          <p:cNvSpPr/>
          <p:nvPr/>
        </p:nvSpPr>
        <p:spPr>
          <a:xfrm>
            <a:off x="8275320" y="364860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원본 보존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42"/>
          <p:cNvSpPr/>
          <p:nvPr/>
        </p:nvSpPr>
        <p:spPr>
          <a:xfrm>
            <a:off x="8275320" y="388620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분리만 — 삭제하지 않음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43"/>
          <p:cNvSpPr/>
          <p:nvPr/>
        </p:nvSpPr>
        <p:spPr>
          <a:xfrm>
            <a:off x="7818120" y="4434840"/>
            <a:ext cx="3840120" cy="1554120"/>
          </a:xfrm>
          <a:prstGeom prst="rect">
            <a:avLst/>
          </a:prstGeom>
          <a:solidFill>
            <a:srgbClr val="2A1620"/>
          </a:solidFill>
          <a:ln w="12700">
            <a:solidFill>
              <a:srgbClr val="5A23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6" name="Image 0" descr="/home/claude/icons/ban_red.png"/>
          <p:cNvPicPr/>
          <p:nvPr/>
        </p:nvPicPr>
        <p:blipFill>
          <a:blip r:embed="rId3"/>
          <a:stretch/>
        </p:blipFill>
        <p:spPr>
          <a:xfrm>
            <a:off x="8074080" y="46177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87" name="Text 44"/>
          <p:cNvSpPr/>
          <p:nvPr/>
        </p:nvSpPr>
        <p:spPr>
          <a:xfrm>
            <a:off x="8494920" y="4608720"/>
            <a:ext cx="3017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strike="noStrike" spc="-1">
                <a:solidFill>
                  <a:srgbClr val="FFC9C9"/>
                </a:solidFill>
                <a:latin typeface="Noto Sans KR"/>
                <a:ea typeface="Noto Sans KR"/>
              </a:rPr>
              <a:t>자동 삭제 없음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45"/>
          <p:cNvSpPr/>
          <p:nvPr/>
        </p:nvSpPr>
        <p:spPr>
          <a:xfrm>
            <a:off x="8074080" y="5029200"/>
            <a:ext cx="33372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E7C4CB"/>
                </a:solidFill>
                <a:latin typeface="Noto Sans KR"/>
                <a:ea typeface="Noto Sans KR"/>
              </a:rPr>
              <a:t>중복</a:t>
            </a:r>
            <a:r>
              <a:rPr lang="en-US" sz="1100" b="0" strike="noStrike" spc="-1">
                <a:solidFill>
                  <a:srgbClr val="E7C4CB"/>
                </a:solidFill>
                <a:latin typeface="Noto Sans KR"/>
                <a:ea typeface="Noto Sans KR"/>
              </a:rPr>
              <a:t>·</a:t>
            </a:r>
            <a:r>
              <a:rPr lang="zh-CN" sz="1100" b="0" strike="noStrike" spc="-1">
                <a:solidFill>
                  <a:srgbClr val="E7C4CB"/>
                </a:solidFill>
                <a:latin typeface="Noto Sans KR"/>
                <a:ea typeface="Noto Sans KR"/>
              </a:rPr>
              <a:t>오래된 파일은 </a:t>
            </a:r>
            <a:r>
              <a:rPr lang="en-US" sz="1100" b="0" strike="noStrike" spc="-1">
                <a:solidFill>
                  <a:srgbClr val="E7C4CB"/>
                </a:solidFill>
                <a:latin typeface="Noto Sans KR"/>
                <a:ea typeface="Noto Sans KR"/>
              </a:rPr>
              <a:t>'</a:t>
            </a:r>
            <a:r>
              <a:rPr lang="zh-CN" sz="1100" b="0" strike="noStrike" spc="-1">
                <a:solidFill>
                  <a:srgbClr val="E7C4CB"/>
                </a:solidFill>
                <a:latin typeface="Noto Sans KR"/>
                <a:ea typeface="Noto Sans KR"/>
              </a:rPr>
              <a:t>후보</a:t>
            </a:r>
            <a:r>
              <a:rPr lang="en-US" sz="1100" b="0" strike="noStrike" spc="-1">
                <a:solidFill>
                  <a:srgbClr val="E7C4CB"/>
                </a:solidFill>
                <a:latin typeface="Noto Sans KR"/>
                <a:ea typeface="Noto Sans KR"/>
              </a:rPr>
              <a:t>'</a:t>
            </a:r>
            <a:r>
              <a:rPr lang="zh-CN" sz="1100" b="0" strike="noStrike" spc="-1">
                <a:solidFill>
                  <a:srgbClr val="E7C4CB"/>
                </a:solidFill>
                <a:latin typeface="Noto Sans KR"/>
                <a:ea typeface="Noto Sans KR"/>
              </a:rPr>
              <a:t>로만 표시되고 검토 폴더로 분리됩니다</a:t>
            </a:r>
            <a:r>
              <a:rPr lang="en-US" sz="1100" b="0" strike="noStrike" spc="-1">
                <a:solidFill>
                  <a:srgbClr val="E7C4CB"/>
                </a:solidFill>
                <a:latin typeface="Noto Sans KR"/>
                <a:ea typeface="Noto Sans KR"/>
              </a:rPr>
              <a:t>. </a:t>
            </a:r>
            <a:r>
              <a:rPr lang="zh-CN" sz="1100" b="0" strike="noStrike" spc="-1">
                <a:solidFill>
                  <a:srgbClr val="E7C4CB"/>
                </a:solidFill>
                <a:latin typeface="Noto Sans KR"/>
                <a:ea typeface="Noto Sans KR"/>
              </a:rPr>
              <a:t>어떤 경우에도 코드가 파일을 삭제하지 않습니다</a:t>
            </a:r>
            <a:r>
              <a:rPr lang="en-US" sz="1100" b="0" strike="noStrike" spc="-1">
                <a:solidFill>
                  <a:srgbClr val="E7C4CB"/>
                </a:solidFill>
                <a:latin typeface="Noto Sans KR"/>
                <a:ea typeface="Noto Sans KR"/>
              </a:rPr>
              <a:t>.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06  ·  BOOKMARKS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북마크 분석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Chrome · Edge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북마크를 도메인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카테고리로 분석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개인정보는 마스킹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제외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93A3BA"/>
                </a:solidFill>
                <a:latin typeface="Noto Sans KR"/>
                <a:ea typeface="Noto Sans KR"/>
              </a:rPr>
              <a:t>07</a:t>
            </a:r>
            <a:r>
              <a:rPr lang="en-US" sz="1100" b="0" strike="noStrike" spc="97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248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6"/>
          <p:cNvSpPr/>
          <p:nvPr/>
        </p:nvSpPr>
        <p:spPr>
          <a:xfrm>
            <a:off x="502920" y="2286000"/>
            <a:ext cx="7040520" cy="3702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7"/>
          <p:cNvSpPr/>
          <p:nvPr/>
        </p:nvSpPr>
        <p:spPr>
          <a:xfrm>
            <a:off x="777240" y="2487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6E83A2"/>
                </a:solidFill>
                <a:latin typeface="Noto Sans KR"/>
                <a:ea typeface="Noto Sans KR"/>
              </a:rPr>
              <a:t>BOOKMARK CATEGORIES · </a:t>
            </a:r>
            <a:r>
              <a:rPr lang="zh-CN" sz="950" b="1" strike="noStrike" spc="299">
                <a:solidFill>
                  <a:srgbClr val="6E83A2"/>
                </a:solidFill>
                <a:latin typeface="Noto Sans KR"/>
                <a:ea typeface="Noto Sans KR"/>
              </a:rPr>
              <a:t>키워드 분류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777240" y="292608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C2CEDD"/>
                </a:solidFill>
                <a:latin typeface="Noto Sans KR"/>
                <a:ea typeface="Noto Sans KR"/>
              </a:rPr>
              <a:t>AI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Shape 9"/>
          <p:cNvSpPr/>
          <p:nvPr/>
        </p:nvSpPr>
        <p:spPr>
          <a:xfrm>
            <a:off x="2103120" y="296280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10"/>
          <p:cNvSpPr/>
          <p:nvPr/>
        </p:nvSpPr>
        <p:spPr>
          <a:xfrm>
            <a:off x="2103120" y="2962800"/>
            <a:ext cx="3661200" cy="15048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11"/>
          <p:cNvSpPr/>
          <p:nvPr/>
        </p:nvSpPr>
        <p:spPr>
          <a:xfrm>
            <a:off x="5837760" y="292608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34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12"/>
          <p:cNvSpPr/>
          <p:nvPr/>
        </p:nvSpPr>
        <p:spPr>
          <a:xfrm>
            <a:off x="777240" y="322344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C2CEDD"/>
                </a:solidFill>
                <a:latin typeface="Noto Sans KR"/>
                <a:ea typeface="Noto Sans KR"/>
              </a:rPr>
              <a:t>Development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Shape 13"/>
          <p:cNvSpPr/>
          <p:nvPr/>
        </p:nvSpPr>
        <p:spPr>
          <a:xfrm>
            <a:off x="2103120" y="325980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14"/>
          <p:cNvSpPr/>
          <p:nvPr/>
        </p:nvSpPr>
        <p:spPr>
          <a:xfrm>
            <a:off x="2103120" y="3259800"/>
            <a:ext cx="4415040" cy="150480"/>
          </a:xfrm>
          <a:prstGeom prst="rect">
            <a:avLst/>
          </a:prstGeom>
          <a:solidFill>
            <a:srgbClr val="5B9B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15"/>
          <p:cNvSpPr/>
          <p:nvPr/>
        </p:nvSpPr>
        <p:spPr>
          <a:xfrm>
            <a:off x="6591960" y="322344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41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16"/>
          <p:cNvSpPr/>
          <p:nvPr/>
        </p:nvSpPr>
        <p:spPr>
          <a:xfrm>
            <a:off x="777240" y="352044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C2CEDD"/>
                </a:solidFill>
                <a:latin typeface="Noto Sans KR"/>
                <a:ea typeface="Noto Sans KR"/>
              </a:rPr>
              <a:t>Public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Shape 17"/>
          <p:cNvSpPr/>
          <p:nvPr/>
        </p:nvSpPr>
        <p:spPr>
          <a:xfrm>
            <a:off x="2103120" y="355716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18"/>
          <p:cNvSpPr/>
          <p:nvPr/>
        </p:nvSpPr>
        <p:spPr>
          <a:xfrm>
            <a:off x="2103120" y="3557160"/>
            <a:ext cx="1938240" cy="15048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9"/>
          <p:cNvSpPr/>
          <p:nvPr/>
        </p:nvSpPr>
        <p:spPr>
          <a:xfrm>
            <a:off x="4114800" y="352044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18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20"/>
          <p:cNvSpPr/>
          <p:nvPr/>
        </p:nvSpPr>
        <p:spPr>
          <a:xfrm>
            <a:off x="777240" y="381780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C2CEDD"/>
                </a:solidFill>
                <a:latin typeface="Noto Sans KR"/>
                <a:ea typeface="Noto Sans KR"/>
              </a:rPr>
              <a:t>News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21"/>
          <p:cNvSpPr/>
          <p:nvPr/>
        </p:nvSpPr>
        <p:spPr>
          <a:xfrm>
            <a:off x="2103120" y="385416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22"/>
          <p:cNvSpPr/>
          <p:nvPr/>
        </p:nvSpPr>
        <p:spPr>
          <a:xfrm>
            <a:off x="2103120" y="3854160"/>
            <a:ext cx="1292040" cy="150480"/>
          </a:xfrm>
          <a:prstGeom prst="rect">
            <a:avLst/>
          </a:prstGeom>
          <a:solidFill>
            <a:srgbClr val="F5C1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23"/>
          <p:cNvSpPr/>
          <p:nvPr/>
        </p:nvSpPr>
        <p:spPr>
          <a:xfrm>
            <a:off x="3468600" y="38178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12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24"/>
          <p:cNvSpPr/>
          <p:nvPr/>
        </p:nvSpPr>
        <p:spPr>
          <a:xfrm>
            <a:off x="777240" y="411480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C2CEDD"/>
                </a:solidFill>
                <a:latin typeface="Noto Sans KR"/>
                <a:ea typeface="Noto Sans KR"/>
              </a:rPr>
              <a:t>Shopping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25"/>
          <p:cNvSpPr/>
          <p:nvPr/>
        </p:nvSpPr>
        <p:spPr>
          <a:xfrm>
            <a:off x="2103120" y="415152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26"/>
          <p:cNvSpPr/>
          <p:nvPr/>
        </p:nvSpPr>
        <p:spPr>
          <a:xfrm>
            <a:off x="2103120" y="4151520"/>
            <a:ext cx="968760" cy="150480"/>
          </a:xfrm>
          <a:prstGeom prst="rect">
            <a:avLst/>
          </a:prstGeom>
          <a:solidFill>
            <a:srgbClr val="EE6B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27"/>
          <p:cNvSpPr/>
          <p:nvPr/>
        </p:nvSpPr>
        <p:spPr>
          <a:xfrm>
            <a:off x="3145680" y="41148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9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28"/>
          <p:cNvSpPr/>
          <p:nvPr/>
        </p:nvSpPr>
        <p:spPr>
          <a:xfrm>
            <a:off x="777240" y="441216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C2CEDD"/>
                </a:solidFill>
                <a:latin typeface="Noto Sans KR"/>
                <a:ea typeface="Noto Sans KR"/>
              </a:rPr>
              <a:t>Education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29"/>
          <p:cNvSpPr/>
          <p:nvPr/>
        </p:nvSpPr>
        <p:spPr>
          <a:xfrm>
            <a:off x="2103120" y="444852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30"/>
          <p:cNvSpPr/>
          <p:nvPr/>
        </p:nvSpPr>
        <p:spPr>
          <a:xfrm>
            <a:off x="2103120" y="4448520"/>
            <a:ext cx="1614960" cy="15048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31"/>
          <p:cNvSpPr/>
          <p:nvPr/>
        </p:nvSpPr>
        <p:spPr>
          <a:xfrm>
            <a:off x="3791880" y="441216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15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32"/>
          <p:cNvSpPr/>
          <p:nvPr/>
        </p:nvSpPr>
        <p:spPr>
          <a:xfrm>
            <a:off x="777240" y="470916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C2CEDD"/>
                </a:solidFill>
                <a:latin typeface="Noto Sans KR"/>
                <a:ea typeface="Noto Sans KR"/>
              </a:rPr>
              <a:t>Finance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Shape 33"/>
          <p:cNvSpPr/>
          <p:nvPr/>
        </p:nvSpPr>
        <p:spPr>
          <a:xfrm>
            <a:off x="2103120" y="474588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34"/>
          <p:cNvSpPr/>
          <p:nvPr/>
        </p:nvSpPr>
        <p:spPr>
          <a:xfrm>
            <a:off x="2103120" y="4745880"/>
            <a:ext cx="753480" cy="150480"/>
          </a:xfrm>
          <a:prstGeom prst="rect">
            <a:avLst/>
          </a:prstGeom>
          <a:solidFill>
            <a:srgbClr val="5EEAD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35"/>
          <p:cNvSpPr/>
          <p:nvPr/>
        </p:nvSpPr>
        <p:spPr>
          <a:xfrm>
            <a:off x="2930040" y="470916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7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36"/>
          <p:cNvSpPr/>
          <p:nvPr/>
        </p:nvSpPr>
        <p:spPr>
          <a:xfrm>
            <a:off x="777240" y="500652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C2CEDD"/>
                </a:solidFill>
                <a:latin typeface="Noto Sans KR"/>
                <a:ea typeface="Noto Sans KR"/>
              </a:rPr>
              <a:t>Reference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37"/>
          <p:cNvSpPr/>
          <p:nvPr/>
        </p:nvSpPr>
        <p:spPr>
          <a:xfrm>
            <a:off x="2103120" y="504288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38"/>
          <p:cNvSpPr/>
          <p:nvPr/>
        </p:nvSpPr>
        <p:spPr>
          <a:xfrm>
            <a:off x="2103120" y="5042880"/>
            <a:ext cx="1184400" cy="150480"/>
          </a:xfrm>
          <a:prstGeom prst="rect">
            <a:avLst/>
          </a:prstGeom>
          <a:solidFill>
            <a:srgbClr val="7FB0F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39"/>
          <p:cNvSpPr/>
          <p:nvPr/>
        </p:nvSpPr>
        <p:spPr>
          <a:xfrm>
            <a:off x="3360960" y="500652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11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40"/>
          <p:cNvSpPr/>
          <p:nvPr/>
        </p:nvSpPr>
        <p:spPr>
          <a:xfrm>
            <a:off x="777240" y="530352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C2CEDD"/>
                </a:solidFill>
                <a:latin typeface="Noto Sans KR"/>
                <a:ea typeface="Noto Sans KR"/>
              </a:rPr>
              <a:t>Etc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41"/>
          <p:cNvSpPr/>
          <p:nvPr/>
        </p:nvSpPr>
        <p:spPr>
          <a:xfrm>
            <a:off x="2103120" y="534024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42"/>
          <p:cNvSpPr/>
          <p:nvPr/>
        </p:nvSpPr>
        <p:spPr>
          <a:xfrm>
            <a:off x="2103120" y="5340240"/>
            <a:ext cx="2368800" cy="150480"/>
          </a:xfrm>
          <a:prstGeom prst="rect">
            <a:avLst/>
          </a:prstGeom>
          <a:solidFill>
            <a:srgbClr val="7C8D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43"/>
          <p:cNvSpPr/>
          <p:nvPr/>
        </p:nvSpPr>
        <p:spPr>
          <a:xfrm>
            <a:off x="4545720" y="530352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22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44"/>
          <p:cNvSpPr/>
          <p:nvPr/>
        </p:nvSpPr>
        <p:spPr>
          <a:xfrm>
            <a:off x="777240" y="5715000"/>
            <a:ext cx="6491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※ </a:t>
            </a:r>
            <a:r>
              <a:rPr lang="zh-CN" sz="90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예시 분포 — 실제 값은 사용자 브라우저 북마크에 따라 달라집니다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45"/>
          <p:cNvSpPr/>
          <p:nvPr/>
        </p:nvSpPr>
        <p:spPr>
          <a:xfrm>
            <a:off x="7818120" y="22860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▶ FEATURES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46"/>
          <p:cNvSpPr/>
          <p:nvPr/>
        </p:nvSpPr>
        <p:spPr>
          <a:xfrm>
            <a:off x="7818120" y="2606040"/>
            <a:ext cx="3840120" cy="23313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Shape 47"/>
          <p:cNvSpPr/>
          <p:nvPr/>
        </p:nvSpPr>
        <p:spPr>
          <a:xfrm>
            <a:off x="8074080" y="2843640"/>
            <a:ext cx="118440" cy="11844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48"/>
          <p:cNvSpPr/>
          <p:nvPr/>
        </p:nvSpPr>
        <p:spPr>
          <a:xfrm>
            <a:off x="8275320" y="274320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9</a:t>
            </a:r>
            <a:r>
              <a:rPr lang="zh-CN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개 카테고리 분류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49"/>
          <p:cNvSpPr/>
          <p:nvPr/>
        </p:nvSpPr>
        <p:spPr>
          <a:xfrm>
            <a:off x="8275320" y="2980800"/>
            <a:ext cx="3181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도메인</a:t>
            </a:r>
            <a:r>
              <a:rPr lang="en-US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·</a:t>
            </a:r>
            <a:r>
              <a:rPr lang="zh-CN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제목</a:t>
            </a:r>
            <a:r>
              <a:rPr lang="en-US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·URL </a:t>
            </a:r>
            <a:r>
              <a:rPr lang="zh-CN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키워드 매칭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Shape 50"/>
          <p:cNvSpPr/>
          <p:nvPr/>
        </p:nvSpPr>
        <p:spPr>
          <a:xfrm>
            <a:off x="8074080" y="3392280"/>
            <a:ext cx="118440" cy="118440"/>
          </a:xfrm>
          <a:prstGeom prst="ellipse">
            <a:avLst/>
          </a:prstGeom>
          <a:solidFill>
            <a:srgbClr val="5B9B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51"/>
          <p:cNvSpPr/>
          <p:nvPr/>
        </p:nvSpPr>
        <p:spPr>
          <a:xfrm>
            <a:off x="8275320" y="32918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중복 </a:t>
            </a:r>
            <a:r>
              <a:rPr lang="en-US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URL </a:t>
            </a:r>
            <a:r>
              <a:rPr lang="zh-CN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탐지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52"/>
          <p:cNvSpPr/>
          <p:nvPr/>
        </p:nvSpPr>
        <p:spPr>
          <a:xfrm>
            <a:off x="8275320" y="3529440"/>
            <a:ext cx="3181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같은 주소 북마크 그룹화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Shape 53"/>
          <p:cNvSpPr/>
          <p:nvPr/>
        </p:nvSpPr>
        <p:spPr>
          <a:xfrm>
            <a:off x="8074080" y="3940920"/>
            <a:ext cx="118440" cy="118440"/>
          </a:xfrm>
          <a:prstGeom prst="ellipse">
            <a:avLst/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54"/>
          <p:cNvSpPr/>
          <p:nvPr/>
        </p:nvSpPr>
        <p:spPr>
          <a:xfrm>
            <a:off x="8275320" y="38404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URL </a:t>
            </a:r>
            <a:r>
              <a:rPr lang="zh-CN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쿼리 마스킹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55"/>
          <p:cNvSpPr/>
          <p:nvPr/>
        </p:nvSpPr>
        <p:spPr>
          <a:xfrm>
            <a:off x="8275320" y="4078080"/>
            <a:ext cx="3181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--mask-bookmark-query (</a:t>
            </a:r>
            <a:r>
              <a:rPr lang="zh-CN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토큰</a:t>
            </a:r>
            <a:r>
              <a:rPr lang="en-US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·ID </a:t>
            </a:r>
            <a:r>
              <a:rPr lang="zh-CN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제거</a:t>
            </a:r>
            <a:r>
              <a:rPr lang="en-US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)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56"/>
          <p:cNvSpPr/>
          <p:nvPr/>
        </p:nvSpPr>
        <p:spPr>
          <a:xfrm>
            <a:off x="8074080" y="4489560"/>
            <a:ext cx="118440" cy="11844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57"/>
          <p:cNvSpPr/>
          <p:nvPr/>
        </p:nvSpPr>
        <p:spPr>
          <a:xfrm>
            <a:off x="8275320" y="438912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도메인 제외 </a:t>
            </a:r>
            <a:r>
              <a:rPr lang="en-US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lang="zh-CN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분석 끄기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58"/>
          <p:cNvSpPr/>
          <p:nvPr/>
        </p:nvSpPr>
        <p:spPr>
          <a:xfrm>
            <a:off x="8275320" y="4626720"/>
            <a:ext cx="3181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93A3BA"/>
                </a:solidFill>
                <a:latin typeface="DejaVu Sans Mono"/>
                <a:ea typeface="DejaVu Sans Mono"/>
              </a:rPr>
              <a:t>--exclude-domain · --no-bookmarks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59"/>
          <p:cNvSpPr/>
          <p:nvPr/>
        </p:nvSpPr>
        <p:spPr>
          <a:xfrm>
            <a:off x="7818120" y="5120640"/>
            <a:ext cx="3840120" cy="868320"/>
          </a:xfrm>
          <a:prstGeom prst="rect">
            <a:avLst/>
          </a:prstGeom>
          <a:solidFill>
            <a:srgbClr val="13243B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60"/>
          <p:cNvSpPr/>
          <p:nvPr/>
        </p:nvSpPr>
        <p:spPr>
          <a:xfrm>
            <a:off x="8046720" y="52488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299">
                <a:solidFill>
                  <a:srgbClr val="6E83A2"/>
                </a:solidFill>
                <a:latin typeface="Noto Sans KR"/>
                <a:ea typeface="Noto Sans KR"/>
              </a:rPr>
              <a:t>SUPPORTED BROWSERS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0" name="Image 0" descr="/home/claude/icons/chrome_teal.png"/>
          <p:cNvPicPr/>
          <p:nvPr/>
        </p:nvPicPr>
        <p:blipFill>
          <a:blip r:embed="rId3"/>
          <a:stretch/>
        </p:blipFill>
        <p:spPr>
          <a:xfrm>
            <a:off x="8074080" y="55321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51" name="Text 61"/>
          <p:cNvSpPr/>
          <p:nvPr/>
        </p:nvSpPr>
        <p:spPr>
          <a:xfrm>
            <a:off x="8403480" y="552312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Chrome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2" name="Image 1" descr="/home/claude/icons/edge_blue.png"/>
          <p:cNvPicPr/>
          <p:nvPr/>
        </p:nvPicPr>
        <p:blipFill>
          <a:blip r:embed="rId4"/>
          <a:stretch/>
        </p:blipFill>
        <p:spPr>
          <a:xfrm>
            <a:off x="9738360" y="55321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53" name="Text 62"/>
          <p:cNvSpPr/>
          <p:nvPr/>
        </p:nvSpPr>
        <p:spPr>
          <a:xfrm>
            <a:off x="10067400" y="552312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Edge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07  ·  SAFETY BY DESIGN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안전 설계 원칙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이 시스템의 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1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순위는 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'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사용자 파일을 절대 잃지 않는 것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'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93A3BA"/>
                </a:solidFill>
                <a:latin typeface="Noto Sans KR"/>
                <a:ea typeface="Noto Sans KR"/>
              </a:rPr>
              <a:t>08</a:t>
            </a:r>
            <a:r>
              <a:rPr lang="en-US" sz="1100" b="0" strike="noStrike" spc="97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248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6"/>
          <p:cNvSpPr/>
          <p:nvPr/>
        </p:nvSpPr>
        <p:spPr>
          <a:xfrm>
            <a:off x="502920" y="2286000"/>
            <a:ext cx="3657240" cy="14810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Shape 7"/>
          <p:cNvSpPr/>
          <p:nvPr/>
        </p:nvSpPr>
        <p:spPr>
          <a:xfrm>
            <a:off x="502920" y="2286000"/>
            <a:ext cx="54360" cy="1481040"/>
          </a:xfrm>
          <a:prstGeom prst="rect">
            <a:avLst/>
          </a:prstGeom>
          <a:solidFill>
            <a:srgbClr val="EE6B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hape 8"/>
          <p:cNvSpPr/>
          <p:nvPr/>
        </p:nvSpPr>
        <p:spPr>
          <a:xfrm>
            <a:off x="777240" y="2541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EE6B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3" name="Image 0" descr="/home/claude/icons/ban_white.png"/>
          <p:cNvPicPr/>
          <p:nvPr/>
        </p:nvPicPr>
        <p:blipFill>
          <a:blip r:embed="rId3"/>
          <a:stretch/>
        </p:blipFill>
        <p:spPr>
          <a:xfrm>
            <a:off x="88704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64" name="Text 9"/>
          <p:cNvSpPr/>
          <p:nvPr/>
        </p:nvSpPr>
        <p:spPr>
          <a:xfrm>
            <a:off x="1371600" y="254196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삭제 코드가 없음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10"/>
          <p:cNvSpPr/>
          <p:nvPr/>
        </p:nvSpPr>
        <p:spPr>
          <a:xfrm>
            <a:off x="795600" y="312732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remove · unlink · rmtree 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부재</a:t>
            </a: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. 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오직 </a:t>
            </a: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shutil.move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만 사용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Shape 11"/>
          <p:cNvSpPr/>
          <p:nvPr/>
        </p:nvSpPr>
        <p:spPr>
          <a:xfrm>
            <a:off x="4265640" y="2286000"/>
            <a:ext cx="3657240" cy="14810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12"/>
          <p:cNvSpPr/>
          <p:nvPr/>
        </p:nvSpPr>
        <p:spPr>
          <a:xfrm>
            <a:off x="4265640" y="2286000"/>
            <a:ext cx="54360" cy="14810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3"/>
          <p:cNvSpPr/>
          <p:nvPr/>
        </p:nvSpPr>
        <p:spPr>
          <a:xfrm>
            <a:off x="4539960" y="2541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9" name="Image 1" descr="/home/claude/icons/eye_white.png"/>
          <p:cNvPicPr/>
          <p:nvPr/>
        </p:nvPicPr>
        <p:blipFill>
          <a:blip r:embed="rId4"/>
          <a:stretch/>
        </p:blipFill>
        <p:spPr>
          <a:xfrm>
            <a:off x="464976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70" name="Text 14"/>
          <p:cNvSpPr/>
          <p:nvPr/>
        </p:nvSpPr>
        <p:spPr>
          <a:xfrm>
            <a:off x="5134320" y="254196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기본 </a:t>
            </a:r>
            <a:r>
              <a:rPr lang="en-US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dry-run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15"/>
          <p:cNvSpPr/>
          <p:nvPr/>
        </p:nvSpPr>
        <p:spPr>
          <a:xfrm>
            <a:off x="4558320" y="312732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확인 없이는 이동 금지</a:t>
            </a: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. analyze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로 먼저 미리보기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hape 16"/>
          <p:cNvSpPr/>
          <p:nvPr/>
        </p:nvSpPr>
        <p:spPr>
          <a:xfrm>
            <a:off x="8028360" y="2286000"/>
            <a:ext cx="3657240" cy="14810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17"/>
          <p:cNvSpPr/>
          <p:nvPr/>
        </p:nvSpPr>
        <p:spPr>
          <a:xfrm>
            <a:off x="8028360" y="2286000"/>
            <a:ext cx="54360" cy="1481040"/>
          </a:xfrm>
          <a:prstGeom prst="rect">
            <a:avLst/>
          </a:prstGeom>
          <a:solidFill>
            <a:srgbClr val="5B9B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Shape 18"/>
          <p:cNvSpPr/>
          <p:nvPr/>
        </p:nvSpPr>
        <p:spPr>
          <a:xfrm>
            <a:off x="8302680" y="2541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5B9B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5" name="Image 2" descr="/home/claude/icons/shield_white.png"/>
          <p:cNvPicPr/>
          <p:nvPr/>
        </p:nvPicPr>
        <p:blipFill>
          <a:blip r:embed="rId5"/>
          <a:stretch/>
        </p:blipFill>
        <p:spPr>
          <a:xfrm>
            <a:off x="841248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76" name="Text 19"/>
          <p:cNvSpPr/>
          <p:nvPr/>
        </p:nvSpPr>
        <p:spPr>
          <a:xfrm>
            <a:off x="8897040" y="254196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스캔 폴더 밖 미접근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20"/>
          <p:cNvSpPr/>
          <p:nvPr/>
        </p:nvSpPr>
        <p:spPr>
          <a:xfrm>
            <a:off x="8321040" y="312732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ensure_source_within_scan_root — 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마지막 방어선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Shape 21"/>
          <p:cNvSpPr/>
          <p:nvPr/>
        </p:nvSpPr>
        <p:spPr>
          <a:xfrm>
            <a:off x="502920" y="3913560"/>
            <a:ext cx="3657240" cy="14810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Shape 22"/>
          <p:cNvSpPr/>
          <p:nvPr/>
        </p:nvSpPr>
        <p:spPr>
          <a:xfrm>
            <a:off x="502920" y="3913560"/>
            <a:ext cx="54360" cy="148104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23"/>
          <p:cNvSpPr/>
          <p:nvPr/>
        </p:nvSpPr>
        <p:spPr>
          <a:xfrm>
            <a:off x="777240" y="416952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1" name="Image 3" descr="/home/claude/icons/lock_white.png"/>
          <p:cNvPicPr/>
          <p:nvPr/>
        </p:nvPicPr>
        <p:blipFill>
          <a:blip r:embed="rId6"/>
          <a:stretch/>
        </p:blipFill>
        <p:spPr>
          <a:xfrm>
            <a:off x="887040" y="42793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82" name="Text 24"/>
          <p:cNvSpPr/>
          <p:nvPr/>
        </p:nvSpPr>
        <p:spPr>
          <a:xfrm>
            <a:off x="1371600" y="416952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시스템</a:t>
            </a:r>
            <a:r>
              <a:rPr lang="en-US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lang="zh-CN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개인 경로 차단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25"/>
          <p:cNvSpPr/>
          <p:nvPr/>
        </p:nvSpPr>
        <p:spPr>
          <a:xfrm>
            <a:off x="795600" y="475488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Windows · Program Files · AppData · Desktop · Documents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Shape 26"/>
          <p:cNvSpPr/>
          <p:nvPr/>
        </p:nvSpPr>
        <p:spPr>
          <a:xfrm>
            <a:off x="4265640" y="3913560"/>
            <a:ext cx="3657240" cy="14810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Shape 27"/>
          <p:cNvSpPr/>
          <p:nvPr/>
        </p:nvSpPr>
        <p:spPr>
          <a:xfrm>
            <a:off x="4265640" y="3913560"/>
            <a:ext cx="54360" cy="148104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28"/>
          <p:cNvSpPr/>
          <p:nvPr/>
        </p:nvSpPr>
        <p:spPr>
          <a:xfrm>
            <a:off x="4539960" y="416952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7" name="Image 4" descr="/home/claude/icons/key_white.png"/>
          <p:cNvPicPr/>
          <p:nvPr/>
        </p:nvPicPr>
        <p:blipFill>
          <a:blip r:embed="rId7"/>
          <a:stretch/>
        </p:blipFill>
        <p:spPr>
          <a:xfrm>
            <a:off x="4649760" y="42793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88" name="Text 29"/>
          <p:cNvSpPr/>
          <p:nvPr/>
        </p:nvSpPr>
        <p:spPr>
          <a:xfrm>
            <a:off x="5134320" y="416952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계획 토큰 바인딩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30"/>
          <p:cNvSpPr/>
          <p:nvPr/>
        </p:nvSpPr>
        <p:spPr>
          <a:xfrm>
            <a:off x="4558320" y="475488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검토한 그 계획만 적용</a:t>
            </a: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. 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바뀌면 토큰 불일치로 차단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Shape 31"/>
          <p:cNvSpPr/>
          <p:nvPr/>
        </p:nvSpPr>
        <p:spPr>
          <a:xfrm>
            <a:off x="8028360" y="3913560"/>
            <a:ext cx="3657240" cy="14810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Shape 32"/>
          <p:cNvSpPr/>
          <p:nvPr/>
        </p:nvSpPr>
        <p:spPr>
          <a:xfrm>
            <a:off x="8028360" y="3913560"/>
            <a:ext cx="54360" cy="1481040"/>
          </a:xfrm>
          <a:prstGeom prst="rect">
            <a:avLst/>
          </a:prstGeom>
          <a:solidFill>
            <a:srgbClr val="5EEAD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33"/>
          <p:cNvSpPr/>
          <p:nvPr/>
        </p:nvSpPr>
        <p:spPr>
          <a:xfrm>
            <a:off x="8302680" y="416952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5EEAD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3" name="Image 5" descr="/home/claude/icons/history_white.png"/>
          <p:cNvPicPr/>
          <p:nvPr/>
        </p:nvPicPr>
        <p:blipFill>
          <a:blip r:embed="rId8"/>
          <a:stretch/>
        </p:blipFill>
        <p:spPr>
          <a:xfrm>
            <a:off x="8412480" y="42793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94" name="Text 34"/>
          <p:cNvSpPr/>
          <p:nvPr/>
        </p:nvSpPr>
        <p:spPr>
          <a:xfrm>
            <a:off x="8897040" y="416952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점진적 이력 기록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35"/>
          <p:cNvSpPr/>
          <p:nvPr/>
        </p:nvSpPr>
        <p:spPr>
          <a:xfrm>
            <a:off x="8321040" y="475488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한 건씩 기록 → 중간 실패에도 되돌리기 가능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Shape 36"/>
          <p:cNvSpPr/>
          <p:nvPr/>
        </p:nvSpPr>
        <p:spPr>
          <a:xfrm>
            <a:off x="502920" y="5486400"/>
            <a:ext cx="11155320" cy="548280"/>
          </a:xfrm>
          <a:prstGeom prst="rect">
            <a:avLst/>
          </a:prstGeom>
          <a:solidFill>
            <a:srgbClr val="0F2A26"/>
          </a:solidFill>
          <a:ln w="12700">
            <a:solidFill>
              <a:srgbClr val="1E4A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7" name="Image 6" descr="/home/claude/icons/checkc_teal.png"/>
          <p:cNvPicPr/>
          <p:nvPr/>
        </p:nvPicPr>
        <p:blipFill>
          <a:blip r:embed="rId9"/>
          <a:stretch/>
        </p:blipFill>
        <p:spPr>
          <a:xfrm>
            <a:off x="713160" y="56325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98" name="Text 37"/>
          <p:cNvSpPr/>
          <p:nvPr/>
        </p:nvSpPr>
        <p:spPr>
          <a:xfrm>
            <a:off x="1078920" y="548640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strike="noStrike" spc="-1">
                <a:solidFill>
                  <a:srgbClr val="5EEAD4"/>
                </a:solidFill>
                <a:latin typeface="Noto Sans KR"/>
                <a:ea typeface="Noto Sans KR"/>
              </a:rPr>
              <a:t>설정으로도 안전을 약화시킬 수 없음</a:t>
            </a:r>
            <a:r>
              <a:rPr lang="en-US" sz="12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 — config.json</a:t>
            </a:r>
            <a:r>
              <a:rPr lang="zh-CN" sz="12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은 차단 경로를 </a:t>
            </a:r>
            <a:r>
              <a:rPr lang="zh-CN" sz="12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추가만</a:t>
            </a:r>
            <a:r>
              <a:rPr lang="en-US" sz="12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 가능하고, </a:t>
            </a:r>
            <a:r>
              <a:rPr lang="zh-CN" sz="12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내장 차단은 제거할 수 없습니다</a:t>
            </a:r>
            <a:r>
              <a:rPr lang="en-US" sz="12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.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299">
                <a:solidFill>
                  <a:srgbClr val="F4883C"/>
                </a:solidFill>
                <a:latin typeface="Noto Sans KR"/>
                <a:ea typeface="Noto Sans KR"/>
              </a:rPr>
              <a:t>08  ·  OUTPUTS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보고서 </a:t>
            </a:r>
            <a:r>
              <a:rPr lang="en-US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이력 </a:t>
            </a:r>
            <a:r>
              <a:rPr lang="en-US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로깅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모든 분석은 타임스탬프 보고서로 남고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모든 이동은 추적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복원 가능합니다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93A3BA"/>
                </a:solidFill>
                <a:latin typeface="Noto Sans KR"/>
                <a:ea typeface="Noto Sans KR"/>
              </a:rPr>
              <a:t>09</a:t>
            </a:r>
            <a:r>
              <a:rPr lang="en-US" sz="1100" b="0" strike="noStrike" spc="97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248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Shape 6"/>
          <p:cNvSpPr/>
          <p:nvPr/>
        </p:nvSpPr>
        <p:spPr>
          <a:xfrm>
            <a:off x="502920" y="2286000"/>
            <a:ext cx="3702960" cy="3702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Shape 7"/>
          <p:cNvSpPr/>
          <p:nvPr/>
        </p:nvSpPr>
        <p:spPr>
          <a:xfrm>
            <a:off x="777240" y="2541960"/>
            <a:ext cx="548280" cy="548280"/>
          </a:xfrm>
          <a:prstGeom prst="roundRect">
            <a:avLst>
              <a:gd name="adj" fmla="val 11667"/>
            </a:avLst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7" name="Image 0" descr="/home/claude/icons/excel_white.png"/>
          <p:cNvPicPr/>
          <p:nvPr/>
        </p:nvPicPr>
        <p:blipFill>
          <a:blip r:embed="rId3"/>
          <a:stretch/>
        </p:blipFill>
        <p:spPr>
          <a:xfrm>
            <a:off x="914400" y="26791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08" name="Text 8"/>
          <p:cNvSpPr/>
          <p:nvPr/>
        </p:nvSpPr>
        <p:spPr>
          <a:xfrm>
            <a:off x="1463040" y="2578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01 · REPORTS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9"/>
          <p:cNvSpPr/>
          <p:nvPr/>
        </p:nvSpPr>
        <p:spPr>
          <a:xfrm>
            <a:off x="1444680" y="278892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보고서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10"/>
          <p:cNvSpPr/>
          <p:nvPr/>
        </p:nvSpPr>
        <p:spPr>
          <a:xfrm>
            <a:off x="795600" y="324612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strike="noStrike" spc="-1">
                <a:solidFill>
                  <a:srgbClr val="2DD4BF"/>
                </a:solidFill>
                <a:latin typeface="DejaVu Sans Mono"/>
                <a:ea typeface="DejaVu Sans Mono"/>
              </a:rPr>
              <a:t>타임스탬프 </a:t>
            </a:r>
            <a:r>
              <a:rPr lang="en-US" sz="950" b="0" strike="noStrike" spc="-1">
                <a:solidFill>
                  <a:srgbClr val="2DD4BF"/>
                </a:solidFill>
                <a:latin typeface="DejaVu Sans Mono"/>
                <a:ea typeface="DejaVu Sans Mono"/>
              </a:rPr>
              <a:t>3</a:t>
            </a:r>
            <a:r>
              <a:rPr lang="zh-CN" sz="950" b="0" strike="noStrike" spc="-1">
                <a:solidFill>
                  <a:srgbClr val="2DD4BF"/>
                </a:solidFill>
                <a:latin typeface="DejaVu Sans Mono"/>
                <a:ea typeface="DejaVu Sans Mono"/>
              </a:rPr>
              <a:t>종 포맷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Shape 11"/>
          <p:cNvSpPr/>
          <p:nvPr/>
        </p:nvSpPr>
        <p:spPr>
          <a:xfrm>
            <a:off x="777240" y="3611880"/>
            <a:ext cx="7639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12"/>
          <p:cNvSpPr/>
          <p:nvPr/>
        </p:nvSpPr>
        <p:spPr>
          <a:xfrm>
            <a:off x="777240" y="3611880"/>
            <a:ext cx="763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Markdown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13"/>
          <p:cNvSpPr/>
          <p:nvPr/>
        </p:nvSpPr>
        <p:spPr>
          <a:xfrm>
            <a:off x="1632960" y="3611880"/>
            <a:ext cx="54828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14"/>
          <p:cNvSpPr/>
          <p:nvPr/>
        </p:nvSpPr>
        <p:spPr>
          <a:xfrm>
            <a:off x="1632960" y="3611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HTML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15"/>
          <p:cNvSpPr/>
          <p:nvPr/>
        </p:nvSpPr>
        <p:spPr>
          <a:xfrm>
            <a:off x="2273040" y="3611880"/>
            <a:ext cx="56664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16"/>
          <p:cNvSpPr/>
          <p:nvPr/>
        </p:nvSpPr>
        <p:spPr>
          <a:xfrm>
            <a:off x="2273040" y="3611880"/>
            <a:ext cx="566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Excel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17"/>
          <p:cNvSpPr/>
          <p:nvPr/>
        </p:nvSpPr>
        <p:spPr>
          <a:xfrm>
            <a:off x="795240" y="4005000"/>
            <a:ext cx="3154680" cy="360"/>
          </a:xfrm>
          <a:prstGeom prst="line">
            <a:avLst/>
          </a:prstGeom>
          <a:ln w="9525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18"/>
          <p:cNvSpPr/>
          <p:nvPr/>
        </p:nvSpPr>
        <p:spPr>
          <a:xfrm>
            <a:off x="777240" y="411480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2DD4BF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다운로드 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·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북마크 보고서 분리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19"/>
          <p:cNvSpPr/>
          <p:nvPr/>
        </p:nvSpPr>
        <p:spPr>
          <a:xfrm>
            <a:off x="777240" y="442584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2DD4BF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요약 지표 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·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이동 계획 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·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중복 목록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20"/>
          <p:cNvSpPr/>
          <p:nvPr/>
        </p:nvSpPr>
        <p:spPr>
          <a:xfrm>
            <a:off x="777240" y="473652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2DD4BF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공유용 — 웹 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UI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에서 다운로드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21"/>
          <p:cNvSpPr/>
          <p:nvPr/>
        </p:nvSpPr>
        <p:spPr>
          <a:xfrm>
            <a:off x="4224600" y="2286000"/>
            <a:ext cx="3702960" cy="3702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Shape 22"/>
          <p:cNvSpPr/>
          <p:nvPr/>
        </p:nvSpPr>
        <p:spPr>
          <a:xfrm>
            <a:off x="4498920" y="2541960"/>
            <a:ext cx="548280" cy="548280"/>
          </a:xfrm>
          <a:prstGeom prst="roundRect">
            <a:avLst>
              <a:gd name="adj" fmla="val 11667"/>
            </a:avLst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3" name="Image 1" descr="/home/claude/icons/history_white.png"/>
          <p:cNvPicPr/>
          <p:nvPr/>
        </p:nvPicPr>
        <p:blipFill>
          <a:blip r:embed="rId4"/>
          <a:stretch/>
        </p:blipFill>
        <p:spPr>
          <a:xfrm>
            <a:off x="4636080" y="26791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24" name="Text 23"/>
          <p:cNvSpPr/>
          <p:nvPr/>
        </p:nvSpPr>
        <p:spPr>
          <a:xfrm>
            <a:off x="5184720" y="2578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F4883C"/>
                </a:solidFill>
                <a:latin typeface="Noto Sans KR"/>
                <a:ea typeface="Noto Sans KR"/>
              </a:rPr>
              <a:t>02 · HISTORY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24"/>
          <p:cNvSpPr/>
          <p:nvPr/>
        </p:nvSpPr>
        <p:spPr>
          <a:xfrm>
            <a:off x="5166360" y="278892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이동 이력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25"/>
          <p:cNvSpPr/>
          <p:nvPr/>
        </p:nvSpPr>
        <p:spPr>
          <a:xfrm>
            <a:off x="4517280" y="324612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F4883C"/>
                </a:solidFill>
                <a:latin typeface="DejaVu Sans Mono"/>
                <a:ea typeface="DejaVu Sans Mono"/>
              </a:rPr>
              <a:t>move_history_*.json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Shape 26"/>
          <p:cNvSpPr/>
          <p:nvPr/>
        </p:nvSpPr>
        <p:spPr>
          <a:xfrm>
            <a:off x="4498920" y="3611880"/>
            <a:ext cx="8719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F488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27"/>
          <p:cNvSpPr/>
          <p:nvPr/>
        </p:nvSpPr>
        <p:spPr>
          <a:xfrm>
            <a:off x="4498920" y="3611880"/>
            <a:ext cx="871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src → dst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28"/>
          <p:cNvSpPr/>
          <p:nvPr/>
        </p:nvSpPr>
        <p:spPr>
          <a:xfrm>
            <a:off x="5462640" y="3611880"/>
            <a:ext cx="7639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F488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29"/>
          <p:cNvSpPr/>
          <p:nvPr/>
        </p:nvSpPr>
        <p:spPr>
          <a:xfrm>
            <a:off x="5462640" y="3611880"/>
            <a:ext cx="763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category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Shape 30"/>
          <p:cNvSpPr/>
          <p:nvPr/>
        </p:nvSpPr>
        <p:spPr>
          <a:xfrm>
            <a:off x="6318360" y="3611880"/>
            <a:ext cx="96156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F488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31"/>
          <p:cNvSpPr/>
          <p:nvPr/>
        </p:nvSpPr>
        <p:spPr>
          <a:xfrm>
            <a:off x="6318360" y="3611880"/>
            <a:ext cx="96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incremental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Shape 32"/>
          <p:cNvSpPr/>
          <p:nvPr/>
        </p:nvSpPr>
        <p:spPr>
          <a:xfrm>
            <a:off x="4516920" y="4005000"/>
            <a:ext cx="3154680" cy="360"/>
          </a:xfrm>
          <a:prstGeom prst="line">
            <a:avLst/>
          </a:prstGeom>
          <a:ln w="9525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33"/>
          <p:cNvSpPr/>
          <p:nvPr/>
        </p:nvSpPr>
        <p:spPr>
          <a:xfrm>
            <a:off x="4498920" y="411480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F4883C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한 건 이동할 때마다 즉시 기록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34"/>
          <p:cNvSpPr/>
          <p:nvPr/>
        </p:nvSpPr>
        <p:spPr>
          <a:xfrm>
            <a:off x="4498920" y="442584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F4883C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되돌리기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(undo)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의 근거 데이터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35"/>
          <p:cNvSpPr/>
          <p:nvPr/>
        </p:nvSpPr>
        <p:spPr>
          <a:xfrm>
            <a:off x="4498920" y="473652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F4883C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중간 실패 시점까지 안전 복원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Shape 36"/>
          <p:cNvSpPr/>
          <p:nvPr/>
        </p:nvSpPr>
        <p:spPr>
          <a:xfrm>
            <a:off x="7946280" y="2286000"/>
            <a:ext cx="3702960" cy="3702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37"/>
          <p:cNvSpPr/>
          <p:nvPr/>
        </p:nvSpPr>
        <p:spPr>
          <a:xfrm>
            <a:off x="8220600" y="2541960"/>
            <a:ext cx="548280" cy="548280"/>
          </a:xfrm>
          <a:prstGeom prst="roundRect">
            <a:avLst>
              <a:gd name="adj" fmla="val 11667"/>
            </a:avLst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9" name="Image 2" descr="/home/claude/icons/clipboard_white.png"/>
          <p:cNvPicPr/>
          <p:nvPr/>
        </p:nvPicPr>
        <p:blipFill>
          <a:blip r:embed="rId5"/>
          <a:stretch/>
        </p:blipFill>
        <p:spPr>
          <a:xfrm>
            <a:off x="8357760" y="26791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40" name="Text 38"/>
          <p:cNvSpPr/>
          <p:nvPr/>
        </p:nvSpPr>
        <p:spPr>
          <a:xfrm>
            <a:off x="8906400" y="2578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A78BFA"/>
                </a:solidFill>
                <a:latin typeface="Noto Sans KR"/>
                <a:ea typeface="Noto Sans KR"/>
              </a:rPr>
              <a:t>03 · LOGGING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39"/>
          <p:cNvSpPr/>
          <p:nvPr/>
        </p:nvSpPr>
        <p:spPr>
          <a:xfrm>
            <a:off x="8888040" y="278892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운영 로깅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40"/>
          <p:cNvSpPr/>
          <p:nvPr/>
        </p:nvSpPr>
        <p:spPr>
          <a:xfrm>
            <a:off x="8238600" y="324612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A78BFA"/>
                </a:solidFill>
                <a:latin typeface="DejaVu Sans Mono"/>
                <a:ea typeface="DejaVu Sans Mono"/>
              </a:rPr>
              <a:t>download_organizer.log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41"/>
          <p:cNvSpPr/>
          <p:nvPr/>
        </p:nvSpPr>
        <p:spPr>
          <a:xfrm>
            <a:off x="8220600" y="3611880"/>
            <a:ext cx="54828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42"/>
          <p:cNvSpPr/>
          <p:nvPr/>
        </p:nvSpPr>
        <p:spPr>
          <a:xfrm>
            <a:off x="8220600" y="3611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scan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Shape 43"/>
          <p:cNvSpPr/>
          <p:nvPr/>
        </p:nvSpPr>
        <p:spPr>
          <a:xfrm>
            <a:off x="8860680" y="3611880"/>
            <a:ext cx="54828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44"/>
          <p:cNvSpPr/>
          <p:nvPr/>
        </p:nvSpPr>
        <p:spPr>
          <a:xfrm>
            <a:off x="8860680" y="3611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move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45"/>
          <p:cNvSpPr/>
          <p:nvPr/>
        </p:nvSpPr>
        <p:spPr>
          <a:xfrm>
            <a:off x="9500760" y="3611880"/>
            <a:ext cx="54828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46"/>
          <p:cNvSpPr/>
          <p:nvPr/>
        </p:nvSpPr>
        <p:spPr>
          <a:xfrm>
            <a:off x="9500760" y="3611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fail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47"/>
          <p:cNvSpPr/>
          <p:nvPr/>
        </p:nvSpPr>
        <p:spPr>
          <a:xfrm>
            <a:off x="10140840" y="3611880"/>
            <a:ext cx="54828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48"/>
          <p:cNvSpPr/>
          <p:nvPr/>
        </p:nvSpPr>
        <p:spPr>
          <a:xfrm>
            <a:off x="10140840" y="3611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undo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Shape 49"/>
          <p:cNvSpPr/>
          <p:nvPr/>
        </p:nvSpPr>
        <p:spPr>
          <a:xfrm>
            <a:off x="8238600" y="4260960"/>
            <a:ext cx="3154680" cy="360"/>
          </a:xfrm>
          <a:prstGeom prst="line">
            <a:avLst/>
          </a:prstGeom>
          <a:ln w="9525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50"/>
          <p:cNvSpPr/>
          <p:nvPr/>
        </p:nvSpPr>
        <p:spPr>
          <a:xfrm>
            <a:off x="8220600" y="437076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A78BFA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스캔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이동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실패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되돌리기 기록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51"/>
          <p:cNvSpPr/>
          <p:nvPr/>
        </p:nvSpPr>
        <p:spPr>
          <a:xfrm>
            <a:off x="8220600" y="468180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A78BFA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파일 수 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·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계획 수 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·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중복</a:t>
            </a:r>
            <a:r>
              <a:rPr lang="en-US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/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오래된 수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52"/>
          <p:cNvSpPr/>
          <p:nvPr/>
        </p:nvSpPr>
        <p:spPr>
          <a:xfrm>
            <a:off x="8220600" y="4992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A78BFA"/>
                </a:solidFill>
                <a:latin typeface="Noto Sans KR"/>
                <a:ea typeface="Noto Sans KR"/>
              </a:rPr>
              <a:t>● </a:t>
            </a:r>
            <a:r>
              <a:rPr lang="zh-CN" sz="105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운영 추적 및 사후 점검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09  ·  ARCHITECTURE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기술 스택 </a:t>
            </a:r>
            <a:r>
              <a:rPr lang="en-US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모듈 구성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Python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단일 패키지 — 계층화된 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11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개 모듈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, 42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개 테스트로 검증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93A3BA"/>
                </a:solidFill>
                <a:latin typeface="Noto Sans KR"/>
                <a:ea typeface="Noto Sans KR"/>
              </a:rPr>
              <a:t>10</a:t>
            </a:r>
            <a:r>
              <a:rPr lang="en-US" sz="1100" b="0" strike="noStrike" spc="97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248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Shape 6"/>
          <p:cNvSpPr/>
          <p:nvPr/>
        </p:nvSpPr>
        <p:spPr>
          <a:xfrm>
            <a:off x="502920" y="2331720"/>
            <a:ext cx="7589160" cy="840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Shape 7"/>
          <p:cNvSpPr/>
          <p:nvPr/>
        </p:nvSpPr>
        <p:spPr>
          <a:xfrm>
            <a:off x="502920" y="2331720"/>
            <a:ext cx="54360" cy="84096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8"/>
          <p:cNvSpPr/>
          <p:nvPr/>
        </p:nvSpPr>
        <p:spPr>
          <a:xfrm>
            <a:off x="758880" y="2477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ENTRY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9"/>
          <p:cNvSpPr/>
          <p:nvPr/>
        </p:nvSpPr>
        <p:spPr>
          <a:xfrm>
            <a:off x="758880" y="271584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진입 계층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Shape 10"/>
          <p:cNvSpPr/>
          <p:nvPr/>
        </p:nvSpPr>
        <p:spPr>
          <a:xfrm>
            <a:off x="2834640" y="2606040"/>
            <a:ext cx="6325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11"/>
          <p:cNvSpPr/>
          <p:nvPr/>
        </p:nvSpPr>
        <p:spPr>
          <a:xfrm>
            <a:off x="2834640" y="2606040"/>
            <a:ext cx="632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cli.py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12"/>
          <p:cNvSpPr/>
          <p:nvPr/>
        </p:nvSpPr>
        <p:spPr>
          <a:xfrm>
            <a:off x="3558960" y="2606040"/>
            <a:ext cx="129060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13"/>
          <p:cNvSpPr/>
          <p:nvPr/>
        </p:nvSpPr>
        <p:spPr>
          <a:xfrm>
            <a:off x="3558960" y="2606040"/>
            <a:ext cx="129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streamlit_app.py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Shape 14"/>
          <p:cNvSpPr/>
          <p:nvPr/>
        </p:nvSpPr>
        <p:spPr>
          <a:xfrm>
            <a:off x="4941360" y="2606040"/>
            <a:ext cx="15541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 15"/>
          <p:cNvSpPr/>
          <p:nvPr/>
        </p:nvSpPr>
        <p:spPr>
          <a:xfrm>
            <a:off x="4941360" y="260604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pyinstaller_entry.py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Shape 16"/>
          <p:cNvSpPr/>
          <p:nvPr/>
        </p:nvSpPr>
        <p:spPr>
          <a:xfrm>
            <a:off x="1417320" y="3154680"/>
            <a:ext cx="200880" cy="155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Shape 17"/>
          <p:cNvSpPr/>
          <p:nvPr/>
        </p:nvSpPr>
        <p:spPr>
          <a:xfrm>
            <a:off x="502920" y="3291840"/>
            <a:ext cx="7589160" cy="840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Shape 18"/>
          <p:cNvSpPr/>
          <p:nvPr/>
        </p:nvSpPr>
        <p:spPr>
          <a:xfrm>
            <a:off x="502920" y="3291840"/>
            <a:ext cx="54360" cy="840960"/>
          </a:xfrm>
          <a:prstGeom prst="rect">
            <a:avLst/>
          </a:prstGeom>
          <a:solidFill>
            <a:srgbClr val="5B9B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19"/>
          <p:cNvSpPr/>
          <p:nvPr/>
        </p:nvSpPr>
        <p:spPr>
          <a:xfrm>
            <a:off x="758880" y="34380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5B9BF0"/>
                </a:solidFill>
                <a:latin typeface="Noto Sans KR"/>
                <a:ea typeface="Noto Sans KR"/>
              </a:rPr>
              <a:t>ORCHESTRATION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20"/>
          <p:cNvSpPr/>
          <p:nvPr/>
        </p:nvSpPr>
        <p:spPr>
          <a:xfrm>
            <a:off x="758880" y="367596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오케스트레이션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Shape 21"/>
          <p:cNvSpPr/>
          <p:nvPr/>
        </p:nvSpPr>
        <p:spPr>
          <a:xfrm>
            <a:off x="2834640" y="3566160"/>
            <a:ext cx="89568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5B9B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22"/>
          <p:cNvSpPr/>
          <p:nvPr/>
        </p:nvSpPr>
        <p:spPr>
          <a:xfrm>
            <a:off x="2834640" y="3566160"/>
            <a:ext cx="895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service.py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Shape 23"/>
          <p:cNvSpPr/>
          <p:nvPr/>
        </p:nvSpPr>
        <p:spPr>
          <a:xfrm>
            <a:off x="1417320" y="4114800"/>
            <a:ext cx="200880" cy="155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Shape 24"/>
          <p:cNvSpPr/>
          <p:nvPr/>
        </p:nvSpPr>
        <p:spPr>
          <a:xfrm>
            <a:off x="502920" y="4251960"/>
            <a:ext cx="7589160" cy="840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Shape 25"/>
          <p:cNvSpPr/>
          <p:nvPr/>
        </p:nvSpPr>
        <p:spPr>
          <a:xfrm>
            <a:off x="502920" y="4251960"/>
            <a:ext cx="54360" cy="84096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26"/>
          <p:cNvSpPr/>
          <p:nvPr/>
        </p:nvSpPr>
        <p:spPr>
          <a:xfrm>
            <a:off x="758880" y="43981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F4883C"/>
                </a:solidFill>
                <a:latin typeface="Noto Sans KR"/>
                <a:ea typeface="Noto Sans KR"/>
              </a:rPr>
              <a:t>CORE ENGINE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27"/>
          <p:cNvSpPr/>
          <p:nvPr/>
        </p:nvSpPr>
        <p:spPr>
          <a:xfrm>
            <a:off x="758880" y="463608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핵심 엔진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Shape 28"/>
          <p:cNvSpPr/>
          <p:nvPr/>
        </p:nvSpPr>
        <p:spPr>
          <a:xfrm>
            <a:off x="2834640" y="4526280"/>
            <a:ext cx="102744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F488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29"/>
          <p:cNvSpPr/>
          <p:nvPr/>
        </p:nvSpPr>
        <p:spPr>
          <a:xfrm>
            <a:off x="2834640" y="4526280"/>
            <a:ext cx="1027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organizer.py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Shape 30"/>
          <p:cNvSpPr/>
          <p:nvPr/>
        </p:nvSpPr>
        <p:spPr>
          <a:xfrm>
            <a:off x="3953880" y="4526280"/>
            <a:ext cx="96156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F488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31"/>
          <p:cNvSpPr/>
          <p:nvPr/>
        </p:nvSpPr>
        <p:spPr>
          <a:xfrm>
            <a:off x="3953880" y="4526280"/>
            <a:ext cx="96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analyzer.py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Shape 32"/>
          <p:cNvSpPr/>
          <p:nvPr/>
        </p:nvSpPr>
        <p:spPr>
          <a:xfrm>
            <a:off x="5007240" y="4526280"/>
            <a:ext cx="102744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F488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33"/>
          <p:cNvSpPr/>
          <p:nvPr/>
        </p:nvSpPr>
        <p:spPr>
          <a:xfrm>
            <a:off x="5007240" y="4526280"/>
            <a:ext cx="1027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bookmarks.py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Shape 34"/>
          <p:cNvSpPr/>
          <p:nvPr/>
        </p:nvSpPr>
        <p:spPr>
          <a:xfrm>
            <a:off x="1417320" y="5074920"/>
            <a:ext cx="200880" cy="155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Shape 35"/>
          <p:cNvSpPr/>
          <p:nvPr/>
        </p:nvSpPr>
        <p:spPr>
          <a:xfrm>
            <a:off x="502920" y="5212080"/>
            <a:ext cx="7589160" cy="840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Shape 36"/>
          <p:cNvSpPr/>
          <p:nvPr/>
        </p:nvSpPr>
        <p:spPr>
          <a:xfrm>
            <a:off x="502920" y="5212080"/>
            <a:ext cx="54360" cy="84096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 37"/>
          <p:cNvSpPr/>
          <p:nvPr/>
        </p:nvSpPr>
        <p:spPr>
          <a:xfrm>
            <a:off x="758880" y="5358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A78BFA"/>
                </a:solidFill>
                <a:latin typeface="Noto Sans KR"/>
                <a:ea typeface="Noto Sans KR"/>
              </a:rPr>
              <a:t>FOUNDATION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38"/>
          <p:cNvSpPr/>
          <p:nvPr/>
        </p:nvSpPr>
        <p:spPr>
          <a:xfrm>
            <a:off x="758880" y="559620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기반 계층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Shape 39"/>
          <p:cNvSpPr/>
          <p:nvPr/>
        </p:nvSpPr>
        <p:spPr>
          <a:xfrm>
            <a:off x="2834640" y="5486400"/>
            <a:ext cx="82980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40"/>
          <p:cNvSpPr/>
          <p:nvPr/>
        </p:nvSpPr>
        <p:spPr>
          <a:xfrm>
            <a:off x="2834640" y="5486400"/>
            <a:ext cx="82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safety.py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Shape 41"/>
          <p:cNvSpPr/>
          <p:nvPr/>
        </p:nvSpPr>
        <p:spPr>
          <a:xfrm>
            <a:off x="3756240" y="5486400"/>
            <a:ext cx="82980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42"/>
          <p:cNvSpPr/>
          <p:nvPr/>
        </p:nvSpPr>
        <p:spPr>
          <a:xfrm>
            <a:off x="3756240" y="5486400"/>
            <a:ext cx="82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config.py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Shape 43"/>
          <p:cNvSpPr/>
          <p:nvPr/>
        </p:nvSpPr>
        <p:spPr>
          <a:xfrm>
            <a:off x="4678200" y="5486400"/>
            <a:ext cx="82980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44"/>
          <p:cNvSpPr/>
          <p:nvPr/>
        </p:nvSpPr>
        <p:spPr>
          <a:xfrm>
            <a:off x="4678200" y="5486400"/>
            <a:ext cx="82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models.py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Shape 45"/>
          <p:cNvSpPr/>
          <p:nvPr/>
        </p:nvSpPr>
        <p:spPr>
          <a:xfrm>
            <a:off x="5599800" y="5486400"/>
            <a:ext cx="89568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46"/>
          <p:cNvSpPr/>
          <p:nvPr/>
        </p:nvSpPr>
        <p:spPr>
          <a:xfrm>
            <a:off x="5599800" y="5486400"/>
            <a:ext cx="895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reports.py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Shape 47"/>
          <p:cNvSpPr/>
          <p:nvPr/>
        </p:nvSpPr>
        <p:spPr>
          <a:xfrm>
            <a:off x="2834640" y="5852160"/>
            <a:ext cx="129060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48"/>
          <p:cNvSpPr/>
          <p:nvPr/>
        </p:nvSpPr>
        <p:spPr>
          <a:xfrm>
            <a:off x="2834640" y="5852160"/>
            <a:ext cx="1290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logging_utils.py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49"/>
          <p:cNvSpPr/>
          <p:nvPr/>
        </p:nvSpPr>
        <p:spPr>
          <a:xfrm>
            <a:off x="8366760" y="22860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▶ STACK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Shape 50"/>
          <p:cNvSpPr/>
          <p:nvPr/>
        </p:nvSpPr>
        <p:spPr>
          <a:xfrm>
            <a:off x="8366760" y="2578680"/>
            <a:ext cx="3318840" cy="18741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Shape 51"/>
          <p:cNvSpPr/>
          <p:nvPr/>
        </p:nvSpPr>
        <p:spPr>
          <a:xfrm>
            <a:off x="8595360" y="2761560"/>
            <a:ext cx="102744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 52"/>
          <p:cNvSpPr/>
          <p:nvPr/>
        </p:nvSpPr>
        <p:spPr>
          <a:xfrm>
            <a:off x="8595360" y="2761560"/>
            <a:ext cx="1027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Python 3.11+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Shape 53"/>
          <p:cNvSpPr/>
          <p:nvPr/>
        </p:nvSpPr>
        <p:spPr>
          <a:xfrm>
            <a:off x="9714600" y="2761560"/>
            <a:ext cx="6325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54"/>
          <p:cNvSpPr/>
          <p:nvPr/>
        </p:nvSpPr>
        <p:spPr>
          <a:xfrm>
            <a:off x="9714600" y="2761560"/>
            <a:ext cx="632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pandas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Shape 55"/>
          <p:cNvSpPr/>
          <p:nvPr/>
        </p:nvSpPr>
        <p:spPr>
          <a:xfrm>
            <a:off x="10438920" y="2761560"/>
            <a:ext cx="7639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56"/>
          <p:cNvSpPr/>
          <p:nvPr/>
        </p:nvSpPr>
        <p:spPr>
          <a:xfrm>
            <a:off x="10438920" y="2761560"/>
            <a:ext cx="763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openpyxl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Shape 57"/>
          <p:cNvSpPr/>
          <p:nvPr/>
        </p:nvSpPr>
        <p:spPr>
          <a:xfrm>
            <a:off x="8595360" y="3127320"/>
            <a:ext cx="82980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Text 58"/>
          <p:cNvSpPr/>
          <p:nvPr/>
        </p:nvSpPr>
        <p:spPr>
          <a:xfrm>
            <a:off x="8595360" y="3127320"/>
            <a:ext cx="82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Streamlit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Shape 59"/>
          <p:cNvSpPr/>
          <p:nvPr/>
        </p:nvSpPr>
        <p:spPr>
          <a:xfrm>
            <a:off x="9516960" y="3127320"/>
            <a:ext cx="96156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60"/>
          <p:cNvSpPr/>
          <p:nvPr/>
        </p:nvSpPr>
        <p:spPr>
          <a:xfrm>
            <a:off x="9516960" y="3127320"/>
            <a:ext cx="96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PyInstaller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Shape 61"/>
          <p:cNvSpPr/>
          <p:nvPr/>
        </p:nvSpPr>
        <p:spPr>
          <a:xfrm>
            <a:off x="10570320" y="3127320"/>
            <a:ext cx="6325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62"/>
          <p:cNvSpPr/>
          <p:nvPr/>
        </p:nvSpPr>
        <p:spPr>
          <a:xfrm>
            <a:off x="10570320" y="3127320"/>
            <a:ext cx="632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pytest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Shape 63"/>
          <p:cNvSpPr/>
          <p:nvPr/>
        </p:nvSpPr>
        <p:spPr>
          <a:xfrm>
            <a:off x="8595360" y="3493080"/>
            <a:ext cx="69840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64"/>
          <p:cNvSpPr/>
          <p:nvPr/>
        </p:nvSpPr>
        <p:spPr>
          <a:xfrm>
            <a:off x="8595360" y="3493080"/>
            <a:ext cx="69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hashlib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Shape 65"/>
          <p:cNvSpPr/>
          <p:nvPr/>
        </p:nvSpPr>
        <p:spPr>
          <a:xfrm>
            <a:off x="9385560" y="3493080"/>
            <a:ext cx="7639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 66"/>
          <p:cNvSpPr/>
          <p:nvPr/>
        </p:nvSpPr>
        <p:spPr>
          <a:xfrm>
            <a:off x="9385560" y="3493080"/>
            <a:ext cx="763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DCE6F2"/>
                </a:solidFill>
                <a:latin typeface="Noto Sans KR"/>
                <a:ea typeface="Noto Sans KR"/>
              </a:rPr>
              <a:t>argparse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Shape 67"/>
          <p:cNvSpPr/>
          <p:nvPr/>
        </p:nvSpPr>
        <p:spPr>
          <a:xfrm>
            <a:off x="8366760" y="4617720"/>
            <a:ext cx="3318840" cy="420120"/>
          </a:xfrm>
          <a:prstGeom prst="rect">
            <a:avLst/>
          </a:prstGeom>
          <a:solidFill>
            <a:srgbClr val="13243B"/>
          </a:solidFill>
          <a:ln w="9525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68"/>
          <p:cNvSpPr/>
          <p:nvPr/>
        </p:nvSpPr>
        <p:spPr>
          <a:xfrm>
            <a:off x="8549640" y="4617720"/>
            <a:ext cx="914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5EEAD4"/>
                </a:solidFill>
                <a:latin typeface="Noto Sans KR"/>
                <a:ea typeface="Noto Sans KR"/>
              </a:rPr>
              <a:t>11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Text 69"/>
          <p:cNvSpPr/>
          <p:nvPr/>
        </p:nvSpPr>
        <p:spPr>
          <a:xfrm>
            <a:off x="9418320" y="4617720"/>
            <a:ext cx="213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모듈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Shape 70"/>
          <p:cNvSpPr/>
          <p:nvPr/>
        </p:nvSpPr>
        <p:spPr>
          <a:xfrm>
            <a:off x="8366760" y="5093280"/>
            <a:ext cx="3318840" cy="420120"/>
          </a:xfrm>
          <a:prstGeom prst="rect">
            <a:avLst/>
          </a:prstGeom>
          <a:solidFill>
            <a:srgbClr val="13243B"/>
          </a:solidFill>
          <a:ln w="9525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71"/>
          <p:cNvSpPr/>
          <p:nvPr/>
        </p:nvSpPr>
        <p:spPr>
          <a:xfrm>
            <a:off x="8549640" y="5093280"/>
            <a:ext cx="914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B923C"/>
                </a:solidFill>
                <a:latin typeface="Noto Sans KR"/>
                <a:ea typeface="Noto Sans KR"/>
              </a:rPr>
              <a:t>42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72"/>
          <p:cNvSpPr/>
          <p:nvPr/>
        </p:nvSpPr>
        <p:spPr>
          <a:xfrm>
            <a:off x="9418320" y="5093280"/>
            <a:ext cx="213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테스트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Shape 73"/>
          <p:cNvSpPr/>
          <p:nvPr/>
        </p:nvSpPr>
        <p:spPr>
          <a:xfrm>
            <a:off x="8366760" y="5568840"/>
            <a:ext cx="3318840" cy="420120"/>
          </a:xfrm>
          <a:prstGeom prst="rect">
            <a:avLst/>
          </a:prstGeom>
          <a:solidFill>
            <a:srgbClr val="13243B"/>
          </a:solidFill>
          <a:ln w="9525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74"/>
          <p:cNvSpPr/>
          <p:nvPr/>
        </p:nvSpPr>
        <p:spPr>
          <a:xfrm>
            <a:off x="8549640" y="5568840"/>
            <a:ext cx="914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BCA4FB"/>
                </a:solidFill>
                <a:latin typeface="Noto Sans KR"/>
                <a:ea typeface="Noto Sans KR"/>
              </a:rPr>
              <a:t>3</a:t>
            </a:r>
            <a:endParaRPr lang="en-US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 75"/>
          <p:cNvSpPr/>
          <p:nvPr/>
        </p:nvSpPr>
        <p:spPr>
          <a:xfrm>
            <a:off x="9418320" y="5568840"/>
            <a:ext cx="213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출력 포맷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10  ·  CONFIG &amp; UX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설정 </a:t>
            </a:r>
            <a:r>
              <a:rPr lang="en-US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사용자 편의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코드 수정 없이 동작을 바꾸고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웹에서 클릭만으로 검토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실행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93A3BA"/>
                </a:solidFill>
                <a:latin typeface="Noto Sans KR"/>
                <a:ea typeface="Noto Sans KR"/>
              </a:rPr>
              <a:t>11</a:t>
            </a:r>
            <a:r>
              <a:rPr lang="en-US" sz="1100" b="0" strike="noStrike" spc="97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248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Text 6"/>
          <p:cNvSpPr/>
          <p:nvPr/>
        </p:nvSpPr>
        <p:spPr>
          <a:xfrm>
            <a:off x="502920" y="22402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F4883C"/>
                </a:solidFill>
                <a:latin typeface="Noto Sans KR"/>
                <a:ea typeface="Noto Sans KR"/>
              </a:rPr>
              <a:t>CONFIG.JSON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 7"/>
          <p:cNvSpPr/>
          <p:nvPr/>
        </p:nvSpPr>
        <p:spPr>
          <a:xfrm>
            <a:off x="484560" y="2487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2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설정 파일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8"/>
          <p:cNvSpPr/>
          <p:nvPr/>
        </p:nvSpPr>
        <p:spPr>
          <a:xfrm>
            <a:off x="502920" y="3063240"/>
            <a:ext cx="5120280" cy="23313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Shape 9"/>
          <p:cNvSpPr/>
          <p:nvPr/>
        </p:nvSpPr>
        <p:spPr>
          <a:xfrm>
            <a:off x="502920" y="3063240"/>
            <a:ext cx="5120280" cy="438480"/>
          </a:xfrm>
          <a:prstGeom prst="rect">
            <a:avLst/>
          </a:prstGeom>
          <a:solidFill>
            <a:srgbClr val="16273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10"/>
          <p:cNvSpPr/>
          <p:nvPr/>
        </p:nvSpPr>
        <p:spPr>
          <a:xfrm>
            <a:off x="777240" y="31456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299">
                <a:solidFill>
                  <a:srgbClr val="6E83A2"/>
                </a:solidFill>
                <a:latin typeface="Noto Sans KR"/>
                <a:ea typeface="Noto Sans KR"/>
              </a:rPr>
              <a:t>KEY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 11"/>
          <p:cNvSpPr/>
          <p:nvPr/>
        </p:nvSpPr>
        <p:spPr>
          <a:xfrm>
            <a:off x="3108960" y="31456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strike="noStrike" spc="199">
                <a:solidFill>
                  <a:srgbClr val="6E83A2"/>
                </a:solidFill>
                <a:latin typeface="Noto Sans KR"/>
                <a:ea typeface="Noto Sans KR"/>
              </a:rPr>
              <a:t>동작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Text 12"/>
          <p:cNvSpPr/>
          <p:nvPr/>
        </p:nvSpPr>
        <p:spPr>
          <a:xfrm>
            <a:off x="777240" y="35020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5EEAD4"/>
                </a:solidFill>
                <a:latin typeface="DejaVu Sans Mono"/>
                <a:ea typeface="DejaVu Sans Mono"/>
              </a:rPr>
              <a:t>old_days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Text 13"/>
          <p:cNvSpPr/>
          <p:nvPr/>
        </p:nvSpPr>
        <p:spPr>
          <a:xfrm>
            <a:off x="3108960" y="35020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오래된 파일 기준</a:t>
            </a:r>
            <a:r>
              <a:rPr lang="en-US" sz="11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(</a:t>
            </a:r>
            <a:r>
              <a:rPr lang="zh-CN" sz="11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일</a:t>
            </a:r>
            <a:r>
              <a:rPr lang="en-US" sz="11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)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Shape 14"/>
          <p:cNvSpPr/>
          <p:nvPr/>
        </p:nvSpPr>
        <p:spPr>
          <a:xfrm>
            <a:off x="731520" y="3959280"/>
            <a:ext cx="4663440" cy="360"/>
          </a:xfrm>
          <a:prstGeom prst="line">
            <a:avLst/>
          </a:prstGeom>
          <a:ln w="9525">
            <a:solidFill>
              <a:srgbClr val="1B2D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15"/>
          <p:cNvSpPr/>
          <p:nvPr/>
        </p:nvSpPr>
        <p:spPr>
          <a:xfrm>
            <a:off x="777240" y="39592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5EEAD4"/>
                </a:solidFill>
                <a:latin typeface="DejaVu Sans Mono"/>
                <a:ea typeface="DejaVu Sans Mono"/>
              </a:rPr>
              <a:t>file_categories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Text 16"/>
          <p:cNvSpPr/>
          <p:nvPr/>
        </p:nvSpPr>
        <p:spPr>
          <a:xfrm>
            <a:off x="3108960" y="39592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분류 규칙 전체 교체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Shape 17"/>
          <p:cNvSpPr/>
          <p:nvPr/>
        </p:nvSpPr>
        <p:spPr>
          <a:xfrm>
            <a:off x="731520" y="4416480"/>
            <a:ext cx="4663440" cy="360"/>
          </a:xfrm>
          <a:prstGeom prst="line">
            <a:avLst/>
          </a:prstGeom>
          <a:ln w="9525">
            <a:solidFill>
              <a:srgbClr val="1B2D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18"/>
          <p:cNvSpPr/>
          <p:nvPr/>
        </p:nvSpPr>
        <p:spPr>
          <a:xfrm>
            <a:off x="777240" y="44164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5EEAD4"/>
                </a:solidFill>
                <a:latin typeface="DejaVu Sans Mono"/>
                <a:ea typeface="DejaVu Sans Mono"/>
              </a:rPr>
              <a:t>bookmark_categories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 19"/>
          <p:cNvSpPr/>
          <p:nvPr/>
        </p:nvSpPr>
        <p:spPr>
          <a:xfrm>
            <a:off x="3108960" y="44164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북마크 키워드 교체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Shape 20"/>
          <p:cNvSpPr/>
          <p:nvPr/>
        </p:nvSpPr>
        <p:spPr>
          <a:xfrm>
            <a:off x="731520" y="4873680"/>
            <a:ext cx="4663440" cy="360"/>
          </a:xfrm>
          <a:prstGeom prst="line">
            <a:avLst/>
          </a:prstGeom>
          <a:ln w="9525">
            <a:solidFill>
              <a:srgbClr val="1B2D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 21"/>
          <p:cNvSpPr/>
          <p:nvPr/>
        </p:nvSpPr>
        <p:spPr>
          <a:xfrm>
            <a:off x="777240" y="48736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5EEAD4"/>
                </a:solidFill>
                <a:latin typeface="DejaVu Sans Mono"/>
                <a:ea typeface="DejaVu Sans Mono"/>
              </a:rPr>
              <a:t>extra_blocked_roots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22"/>
          <p:cNvSpPr/>
          <p:nvPr/>
        </p:nvSpPr>
        <p:spPr>
          <a:xfrm>
            <a:off x="3108960" y="48736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차단 경로 추가</a:t>
            </a:r>
            <a:r>
              <a:rPr lang="en-US" sz="11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(</a:t>
            </a:r>
            <a:r>
              <a:rPr lang="zh-CN" sz="11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제거 불가</a:t>
            </a:r>
            <a:r>
              <a:rPr lang="en-US" sz="1100" b="0" strike="noStrike" spc="-1">
                <a:solidFill>
                  <a:srgbClr val="C2CEDD"/>
                </a:solidFill>
                <a:latin typeface="Noto Sans KR"/>
                <a:ea typeface="Noto Sans KR"/>
              </a:rPr>
              <a:t>)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 23"/>
          <p:cNvSpPr/>
          <p:nvPr/>
        </p:nvSpPr>
        <p:spPr>
          <a:xfrm>
            <a:off x="502920" y="548640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CLI </a:t>
            </a:r>
            <a:r>
              <a:rPr lang="zh-CN" sz="100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옵션</a:t>
            </a:r>
            <a:r>
              <a:rPr lang="en-US" sz="100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(--old-days </a:t>
            </a:r>
            <a:r>
              <a:rPr lang="zh-CN" sz="100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등</a:t>
            </a:r>
            <a:r>
              <a:rPr lang="en-US" sz="100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)</a:t>
            </a:r>
            <a:r>
              <a:rPr lang="zh-CN" sz="100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이 설정 파일보다 우선합니다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24"/>
          <p:cNvSpPr/>
          <p:nvPr/>
        </p:nvSpPr>
        <p:spPr>
          <a:xfrm>
            <a:off x="6537960" y="22402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STREAMLIT WEB UI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25"/>
          <p:cNvSpPr/>
          <p:nvPr/>
        </p:nvSpPr>
        <p:spPr>
          <a:xfrm>
            <a:off x="6519600" y="2487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2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웹 인터페이스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Shape 26"/>
          <p:cNvSpPr/>
          <p:nvPr/>
        </p:nvSpPr>
        <p:spPr>
          <a:xfrm>
            <a:off x="6537960" y="3108960"/>
            <a:ext cx="5120280" cy="60300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58" name="Image 0" descr="/home/claude/icons/window_teal.png"/>
          <p:cNvPicPr/>
          <p:nvPr/>
        </p:nvPicPr>
        <p:blipFill>
          <a:blip r:embed="rId3"/>
          <a:stretch/>
        </p:blipFill>
        <p:spPr>
          <a:xfrm>
            <a:off x="6748200" y="327348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59" name="Text 27"/>
          <p:cNvSpPr/>
          <p:nvPr/>
        </p:nvSpPr>
        <p:spPr>
          <a:xfrm>
            <a:off x="7150680" y="317304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지표 카드 </a:t>
            </a:r>
            <a:r>
              <a:rPr lang="en-US" sz="13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lang="zh-CN" sz="13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탭 구성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28"/>
          <p:cNvSpPr/>
          <p:nvPr/>
        </p:nvSpPr>
        <p:spPr>
          <a:xfrm>
            <a:off x="7150680" y="343800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요약</a:t>
            </a: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미리보기</a:t>
            </a: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중복</a:t>
            </a: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북마크 탭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Shape 29"/>
          <p:cNvSpPr/>
          <p:nvPr/>
        </p:nvSpPr>
        <p:spPr>
          <a:xfrm>
            <a:off x="6537960" y="3822120"/>
            <a:ext cx="5120280" cy="60300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2" name="Image 1" descr="/home/claude/icons/eye_teal.png"/>
          <p:cNvPicPr/>
          <p:nvPr/>
        </p:nvPicPr>
        <p:blipFill>
          <a:blip r:embed="rId4"/>
          <a:stretch/>
        </p:blipFill>
        <p:spPr>
          <a:xfrm>
            <a:off x="6748200" y="398664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63" name="Text 30"/>
          <p:cNvSpPr/>
          <p:nvPr/>
        </p:nvSpPr>
        <p:spPr>
          <a:xfrm>
            <a:off x="7150680" y="388620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이동 미리보기 </a:t>
            </a:r>
            <a:r>
              <a:rPr lang="en-US" sz="13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lang="zh-CN" sz="13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파일 제외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Text 31"/>
          <p:cNvSpPr/>
          <p:nvPr/>
        </p:nvSpPr>
        <p:spPr>
          <a:xfrm>
            <a:off x="7150680" y="415152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표에서 직접 선택적 적용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Shape 32"/>
          <p:cNvSpPr/>
          <p:nvPr/>
        </p:nvSpPr>
        <p:spPr>
          <a:xfrm>
            <a:off x="6537960" y="4535280"/>
            <a:ext cx="5120280" cy="60300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6" name="Image 2" descr="/home/claude/icons/excel_teal.png"/>
          <p:cNvPicPr/>
          <p:nvPr/>
        </p:nvPicPr>
        <p:blipFill>
          <a:blip r:embed="rId5"/>
          <a:stretch/>
        </p:blipFill>
        <p:spPr>
          <a:xfrm>
            <a:off x="6748200" y="470016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67" name="Text 33"/>
          <p:cNvSpPr/>
          <p:nvPr/>
        </p:nvSpPr>
        <p:spPr>
          <a:xfrm>
            <a:off x="7150680" y="459936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보고서 다운로드 </a:t>
            </a:r>
            <a:r>
              <a:rPr lang="en-US" sz="13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lang="zh-CN" sz="13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되돌리기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 34"/>
          <p:cNvSpPr/>
          <p:nvPr/>
        </p:nvSpPr>
        <p:spPr>
          <a:xfrm>
            <a:off x="7150680" y="486468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같은 화면에서 처리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Shape 35"/>
          <p:cNvSpPr/>
          <p:nvPr/>
        </p:nvSpPr>
        <p:spPr>
          <a:xfrm>
            <a:off x="6537960" y="5248800"/>
            <a:ext cx="5120280" cy="60300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0" name="Image 3" descr="/home/claude/icons/key_teal.png"/>
          <p:cNvPicPr/>
          <p:nvPr/>
        </p:nvPicPr>
        <p:blipFill>
          <a:blip r:embed="rId6"/>
          <a:stretch/>
        </p:blipFill>
        <p:spPr>
          <a:xfrm>
            <a:off x="6748200" y="54133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71" name="Text 36"/>
          <p:cNvSpPr/>
          <p:nvPr/>
        </p:nvSpPr>
        <p:spPr>
          <a:xfrm>
            <a:off x="7150680" y="531252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2</a:t>
            </a:r>
            <a:r>
              <a:rPr lang="zh-CN" sz="135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단계 안전 게이트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37"/>
          <p:cNvSpPr/>
          <p:nvPr/>
        </p:nvSpPr>
        <p:spPr>
          <a:xfrm>
            <a:off x="7150680" y="557784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체크박스 </a:t>
            </a: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+ 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계획 토큰 입력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299">
                <a:solidFill>
                  <a:srgbClr val="2DD4BF"/>
                </a:solidFill>
                <a:latin typeface="Noto Sans KR"/>
                <a:ea typeface="Noto Sans KR"/>
              </a:rPr>
              <a:t>11  ·  DEMO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시연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git clone →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설치 → 실행 — 로컬에서 바로 확인하는 설치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실행 흐름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93A3BA"/>
                </a:solidFill>
                <a:latin typeface="Noto Sans KR"/>
                <a:ea typeface="Noto Sans KR"/>
              </a:rPr>
              <a:t>12</a:t>
            </a:r>
            <a:r>
              <a:rPr lang="en-US" sz="1100" b="0" strike="noStrike" spc="97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248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Shape 6"/>
          <p:cNvSpPr/>
          <p:nvPr/>
        </p:nvSpPr>
        <p:spPr>
          <a:xfrm>
            <a:off x="502920" y="2286000"/>
            <a:ext cx="6766200" cy="3702960"/>
          </a:xfrm>
          <a:prstGeom prst="rect">
            <a:avLst/>
          </a:prstGeom>
          <a:solidFill>
            <a:srgbClr val="0A1421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Shape 7"/>
          <p:cNvSpPr/>
          <p:nvPr/>
        </p:nvSpPr>
        <p:spPr>
          <a:xfrm>
            <a:off x="502920" y="2286000"/>
            <a:ext cx="6766200" cy="383760"/>
          </a:xfrm>
          <a:prstGeom prst="rect">
            <a:avLst/>
          </a:prstGeom>
          <a:solidFill>
            <a:srgbClr val="13243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Shape 8"/>
          <p:cNvSpPr/>
          <p:nvPr/>
        </p:nvSpPr>
        <p:spPr>
          <a:xfrm>
            <a:off x="758880" y="2423160"/>
            <a:ext cx="118440" cy="118440"/>
          </a:xfrm>
          <a:prstGeom prst="ellipse">
            <a:avLst/>
          </a:prstGeom>
          <a:solidFill>
            <a:srgbClr val="EE6B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Shape 9"/>
          <p:cNvSpPr/>
          <p:nvPr/>
        </p:nvSpPr>
        <p:spPr>
          <a:xfrm>
            <a:off x="978480" y="2423160"/>
            <a:ext cx="118440" cy="118440"/>
          </a:xfrm>
          <a:prstGeom prst="ellipse">
            <a:avLst/>
          </a:prstGeom>
          <a:solidFill>
            <a:srgbClr val="F5C1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10"/>
          <p:cNvSpPr/>
          <p:nvPr/>
        </p:nvSpPr>
        <p:spPr>
          <a:xfrm>
            <a:off x="1197720" y="2423160"/>
            <a:ext cx="118440" cy="11844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Text 11"/>
          <p:cNvSpPr/>
          <p:nvPr/>
        </p:nvSpPr>
        <p:spPr>
          <a:xfrm>
            <a:off x="1600200" y="2286000"/>
            <a:ext cx="54860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566983"/>
                </a:solidFill>
                <a:latin typeface="DejaVu Sans Mono"/>
                <a:ea typeface="DejaVu Sans Mono"/>
              </a:rPr>
              <a:t>bash — DownloadOrganizer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12"/>
          <p:cNvSpPr/>
          <p:nvPr/>
        </p:nvSpPr>
        <p:spPr>
          <a:xfrm>
            <a:off x="822960" y="283464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2DD4BF"/>
                </a:solidFill>
                <a:latin typeface="DejaVu Sans Mono"/>
                <a:ea typeface="DejaVu Sans Mono"/>
              </a:rPr>
              <a:t># </a:t>
            </a:r>
            <a:r>
              <a:rPr lang="zh-CN" sz="950" b="1" strike="noStrike" spc="97">
                <a:solidFill>
                  <a:srgbClr val="2DD4BF"/>
                </a:solidFill>
                <a:latin typeface="DejaVu Sans Mono"/>
                <a:ea typeface="DejaVu Sans Mono"/>
              </a:rPr>
              <a:t>설치 </a:t>
            </a:r>
            <a:r>
              <a:rPr lang="en-US" sz="950" b="1" strike="noStrike" spc="97">
                <a:solidFill>
                  <a:srgbClr val="2DD4BF"/>
                </a:solidFill>
                <a:latin typeface="DejaVu Sans Mono"/>
                <a:ea typeface="DejaVu Sans Mono"/>
              </a:rPr>
              <a:t>(SETUP)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Text 13"/>
          <p:cNvSpPr/>
          <p:nvPr/>
        </p:nvSpPr>
        <p:spPr>
          <a:xfrm>
            <a:off x="822960" y="312732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B923C"/>
                </a:solidFill>
                <a:latin typeface="DejaVu Sans Mono"/>
                <a:ea typeface="DejaVu Sans Mono"/>
              </a:rPr>
              <a:t>$ </a:t>
            </a:r>
            <a:r>
              <a:rPr lang="en-US" sz="1000" b="0" strike="noStrike" spc="-1">
                <a:solidFill>
                  <a:srgbClr val="DCE6F2"/>
                </a:solidFill>
                <a:latin typeface="DejaVu Sans Mono"/>
                <a:ea typeface="DejaVu Sans Mono"/>
              </a:rPr>
              <a:t>git clone https://github.com/gemini2k/DownloadOrganizer.git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14"/>
          <p:cNvSpPr/>
          <p:nvPr/>
        </p:nvSpPr>
        <p:spPr>
          <a:xfrm>
            <a:off x="822960" y="343368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B923C"/>
                </a:solidFill>
                <a:latin typeface="DejaVu Sans Mono"/>
                <a:ea typeface="DejaVu Sans Mono"/>
              </a:rPr>
              <a:t>$ </a:t>
            </a:r>
            <a:r>
              <a:rPr lang="en-US" sz="1000" b="0" strike="noStrike" spc="-1">
                <a:solidFill>
                  <a:srgbClr val="DCE6F2"/>
                </a:solidFill>
                <a:latin typeface="DejaVu Sans Mono"/>
                <a:ea typeface="DejaVu Sans Mono"/>
              </a:rPr>
              <a:t>cd DownloadOrganizer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15"/>
          <p:cNvSpPr/>
          <p:nvPr/>
        </p:nvSpPr>
        <p:spPr>
          <a:xfrm>
            <a:off x="822960" y="374004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B923C"/>
                </a:solidFill>
                <a:latin typeface="DejaVu Sans Mono"/>
                <a:ea typeface="DejaVu Sans Mono"/>
              </a:rPr>
              <a:t>$ </a:t>
            </a:r>
            <a:r>
              <a:rPr lang="en-US" sz="1000" b="0" strike="noStrike" spc="-1">
                <a:solidFill>
                  <a:srgbClr val="DCE6F2"/>
                </a:solidFill>
                <a:latin typeface="DejaVu Sans Mono"/>
                <a:ea typeface="DejaVu Sans Mono"/>
              </a:rPr>
              <a:t>python -m venv .venv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 16"/>
          <p:cNvSpPr/>
          <p:nvPr/>
        </p:nvSpPr>
        <p:spPr>
          <a:xfrm>
            <a:off x="822960" y="404640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B923C"/>
                </a:solidFill>
                <a:latin typeface="DejaVu Sans Mono"/>
                <a:ea typeface="DejaVu Sans Mono"/>
              </a:rPr>
              <a:t>$ </a:t>
            </a:r>
            <a:r>
              <a:rPr lang="en-US" sz="1000" b="0" strike="noStrike" spc="-1">
                <a:solidFill>
                  <a:srgbClr val="DCE6F2"/>
                </a:solidFill>
                <a:latin typeface="DejaVu Sans Mono"/>
                <a:ea typeface="DejaVu Sans Mono"/>
              </a:rPr>
              <a:t>.venv\Scripts\activate</a:t>
            </a:r>
            <a:r>
              <a:rPr lang="en-US" sz="1000" b="0" strike="noStrike" spc="-1">
                <a:solidFill>
                  <a:srgbClr val="5F8A6E"/>
                </a:solidFill>
                <a:latin typeface="DejaVu Sans Mono"/>
                <a:ea typeface="DejaVu Sans Mono"/>
              </a:rPr>
              <a:t>   # Windows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 17"/>
          <p:cNvSpPr/>
          <p:nvPr/>
        </p:nvSpPr>
        <p:spPr>
          <a:xfrm>
            <a:off x="822960" y="435240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B923C"/>
                </a:solidFill>
                <a:latin typeface="DejaVu Sans Mono"/>
                <a:ea typeface="DejaVu Sans Mono"/>
              </a:rPr>
              <a:t>$ </a:t>
            </a:r>
            <a:r>
              <a:rPr lang="en-US" sz="1000" b="0" strike="noStrike" spc="-1">
                <a:solidFill>
                  <a:srgbClr val="DCE6F2"/>
                </a:solidFill>
                <a:latin typeface="DejaVu Sans Mono"/>
                <a:ea typeface="DejaVu Sans Mono"/>
              </a:rPr>
              <a:t>pip install -e .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Text 18"/>
          <p:cNvSpPr/>
          <p:nvPr/>
        </p:nvSpPr>
        <p:spPr>
          <a:xfrm>
            <a:off x="822960" y="476856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97">
                <a:solidFill>
                  <a:srgbClr val="2DD4BF"/>
                </a:solidFill>
                <a:latin typeface="DejaVu Sans Mono"/>
                <a:ea typeface="DejaVu Sans Mono"/>
              </a:rPr>
              <a:t># </a:t>
            </a:r>
            <a:r>
              <a:rPr lang="zh-CN" sz="950" b="1" strike="noStrike" spc="97">
                <a:solidFill>
                  <a:srgbClr val="2DD4BF"/>
                </a:solidFill>
                <a:latin typeface="DejaVu Sans Mono"/>
                <a:ea typeface="DejaVu Sans Mono"/>
              </a:rPr>
              <a:t>실행 </a:t>
            </a:r>
            <a:r>
              <a:rPr lang="en-US" sz="950" b="1" strike="noStrike" spc="97">
                <a:solidFill>
                  <a:srgbClr val="2DD4BF"/>
                </a:solidFill>
                <a:latin typeface="DejaVu Sans Mono"/>
                <a:ea typeface="DejaVu Sans Mono"/>
              </a:rPr>
              <a:t>(RUN)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 19"/>
          <p:cNvSpPr/>
          <p:nvPr/>
        </p:nvSpPr>
        <p:spPr>
          <a:xfrm>
            <a:off x="822960" y="506124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B923C"/>
                </a:solidFill>
                <a:latin typeface="DejaVu Sans Mono"/>
                <a:ea typeface="DejaVu Sans Mono"/>
              </a:rPr>
              <a:t>$ </a:t>
            </a:r>
            <a:r>
              <a:rPr lang="en-US" sz="1000" b="0" strike="noStrike" spc="-1">
                <a:solidFill>
                  <a:srgbClr val="DCE6F2"/>
                </a:solidFill>
                <a:latin typeface="DejaVu Sans Mono"/>
                <a:ea typeface="DejaVu Sans Mono"/>
              </a:rPr>
              <a:t>streamlit run streamlit_app.py</a:t>
            </a:r>
            <a:r>
              <a:rPr lang="en-US" sz="1000" b="0" strike="noStrike" spc="-1">
                <a:solidFill>
                  <a:srgbClr val="5F8A6E"/>
                </a:solidFill>
                <a:latin typeface="DejaVu Sans Mono"/>
                <a:ea typeface="DejaVu Sans Mono"/>
              </a:rPr>
              <a:t>   # </a:t>
            </a:r>
            <a:r>
              <a:rPr lang="zh-CN" sz="1000" b="0" strike="noStrike" spc="-1">
                <a:solidFill>
                  <a:srgbClr val="5F8A6E"/>
                </a:solidFill>
                <a:latin typeface="DejaVu Sans Mono"/>
                <a:ea typeface="DejaVu Sans Mono"/>
              </a:rPr>
              <a:t>웹 </a:t>
            </a:r>
            <a:r>
              <a:rPr lang="en-US" sz="1000" b="0" strike="noStrike" spc="-1">
                <a:solidFill>
                  <a:srgbClr val="5F8A6E"/>
                </a:solidFill>
                <a:latin typeface="DejaVu Sans Mono"/>
                <a:ea typeface="DejaVu Sans Mono"/>
              </a:rPr>
              <a:t>UI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 20"/>
          <p:cNvSpPr/>
          <p:nvPr/>
        </p:nvSpPr>
        <p:spPr>
          <a:xfrm>
            <a:off x="822960" y="536760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 dirty="0">
                <a:solidFill>
                  <a:srgbClr val="FB923C"/>
                </a:solidFill>
                <a:latin typeface="DejaVu Sans Mono"/>
                <a:ea typeface="DejaVu Sans Mono"/>
              </a:rPr>
              <a:t>$ </a:t>
            </a:r>
            <a:r>
              <a:rPr lang="en-US" sz="1000" b="0" strike="noStrike" spc="-1" dirty="0">
                <a:solidFill>
                  <a:srgbClr val="DCE6F2"/>
                </a:solidFill>
                <a:latin typeface="DejaVu Sans Mono"/>
                <a:ea typeface="DejaVu Sans Mono"/>
              </a:rPr>
              <a:t>download-organizer analyze </a:t>
            </a:r>
            <a:r>
              <a:rPr lang="en-US" sz="1000" b="0" strike="noStrike" spc="-1">
                <a:solidFill>
                  <a:srgbClr val="DCE6F2"/>
                </a:solidFill>
                <a:latin typeface="DejaVu Sans Mono"/>
                <a:ea typeface="DejaVu Sans Mono"/>
              </a:rPr>
              <a:t>--scan-root "C:\Users\USER\Downloads"</a:t>
            </a:r>
            <a:r>
              <a:rPr lang="en-US" sz="1000" b="0" strike="noStrike" spc="-1">
                <a:solidFill>
                  <a:srgbClr val="5F8A6E"/>
                </a:solidFill>
                <a:latin typeface="DejaVu Sans Mono"/>
                <a:ea typeface="DejaVu Sans Mono"/>
              </a:rPr>
              <a:t>   </a:t>
            </a:r>
            <a:r>
              <a:rPr lang="en-US" sz="1000" b="0" strike="noStrike" spc="-1" dirty="0">
                <a:solidFill>
                  <a:srgbClr val="5F8A6E"/>
                </a:solidFill>
                <a:latin typeface="DejaVu Sans Mono"/>
                <a:ea typeface="DejaVu Sans Mono"/>
              </a:rPr>
              <a:t># CLI</a:t>
            </a:r>
            <a:endParaRPr lang="en-US" sz="1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21"/>
          <p:cNvSpPr/>
          <p:nvPr/>
        </p:nvSpPr>
        <p:spPr>
          <a:xfrm>
            <a:off x="7543800" y="2286000"/>
            <a:ext cx="4141800" cy="1142640"/>
          </a:xfrm>
          <a:prstGeom prst="roundRect">
            <a:avLst>
              <a:gd name="adj" fmla="val 2400"/>
            </a:avLst>
          </a:prstGeom>
          <a:solidFill>
            <a:srgbClr val="0C1726"/>
          </a:solidFill>
          <a:ln w="12700">
            <a:solidFill>
              <a:srgbClr val="2A4263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Shape 22"/>
          <p:cNvSpPr/>
          <p:nvPr/>
        </p:nvSpPr>
        <p:spPr>
          <a:xfrm>
            <a:off x="7772400" y="2487240"/>
            <a:ext cx="310680" cy="3106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 23"/>
          <p:cNvSpPr/>
          <p:nvPr/>
        </p:nvSpPr>
        <p:spPr>
          <a:xfrm>
            <a:off x="7772400" y="24872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6241F"/>
                </a:solidFill>
                <a:latin typeface="Noto Sans KR"/>
                <a:ea typeface="Noto Sans KR"/>
              </a:rPr>
              <a:t>1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24"/>
          <p:cNvSpPr/>
          <p:nvPr/>
        </p:nvSpPr>
        <p:spPr>
          <a:xfrm>
            <a:off x="8202240" y="248724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Git </a:t>
            </a: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다운로드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25"/>
          <p:cNvSpPr/>
          <p:nvPr/>
        </p:nvSpPr>
        <p:spPr>
          <a:xfrm>
            <a:off x="8202240" y="279792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저장소 클론 화면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9" name="Image 0" descr="/home/claude/icons/clone_slate.png"/>
          <p:cNvPicPr/>
          <p:nvPr/>
        </p:nvPicPr>
        <p:blipFill>
          <a:blip r:embed="rId3"/>
          <a:stretch/>
        </p:blipFill>
        <p:spPr>
          <a:xfrm>
            <a:off x="10607040" y="25786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00" name="Text 26"/>
          <p:cNvSpPr/>
          <p:nvPr/>
        </p:nvSpPr>
        <p:spPr>
          <a:xfrm>
            <a:off x="10314360" y="294444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스크린샷 영역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Shape 27"/>
          <p:cNvSpPr/>
          <p:nvPr/>
        </p:nvSpPr>
        <p:spPr>
          <a:xfrm>
            <a:off x="7543800" y="3566160"/>
            <a:ext cx="4141800" cy="1142640"/>
          </a:xfrm>
          <a:prstGeom prst="roundRect">
            <a:avLst>
              <a:gd name="adj" fmla="val 2400"/>
            </a:avLst>
          </a:prstGeom>
          <a:solidFill>
            <a:srgbClr val="0C1726"/>
          </a:solidFill>
          <a:ln w="12700">
            <a:solidFill>
              <a:srgbClr val="2A4263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Shape 28"/>
          <p:cNvSpPr/>
          <p:nvPr/>
        </p:nvSpPr>
        <p:spPr>
          <a:xfrm>
            <a:off x="7772400" y="3767400"/>
            <a:ext cx="310680" cy="3106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29"/>
          <p:cNvSpPr/>
          <p:nvPr/>
        </p:nvSpPr>
        <p:spPr>
          <a:xfrm>
            <a:off x="7772400" y="37674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6241F"/>
                </a:solidFill>
                <a:latin typeface="Noto Sans KR"/>
                <a:ea typeface="Noto Sans KR"/>
              </a:rPr>
              <a:t>2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Text 30"/>
          <p:cNvSpPr/>
          <p:nvPr/>
        </p:nvSpPr>
        <p:spPr>
          <a:xfrm>
            <a:off x="8202240" y="376740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웹 </a:t>
            </a:r>
            <a:r>
              <a:rPr lang="en-US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UI </a:t>
            </a: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실행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Text 31"/>
          <p:cNvSpPr/>
          <p:nvPr/>
        </p:nvSpPr>
        <p:spPr>
          <a:xfrm>
            <a:off x="8202240" y="407808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Streamlit </a:t>
            </a:r>
            <a:r>
              <a:rPr lang="zh-CN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분석 화면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6" name="Image 1" descr="/home/claude/icons/window_slate.png"/>
          <p:cNvPicPr/>
          <p:nvPr/>
        </p:nvPicPr>
        <p:blipFill>
          <a:blip r:embed="rId4"/>
          <a:stretch/>
        </p:blipFill>
        <p:spPr>
          <a:xfrm>
            <a:off x="10607040" y="3858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07" name="Text 32"/>
          <p:cNvSpPr/>
          <p:nvPr/>
        </p:nvSpPr>
        <p:spPr>
          <a:xfrm>
            <a:off x="10314360" y="42246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스크린샷 영역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Shape 33"/>
          <p:cNvSpPr/>
          <p:nvPr/>
        </p:nvSpPr>
        <p:spPr>
          <a:xfrm>
            <a:off x="7543800" y="4846320"/>
            <a:ext cx="4141800" cy="1142640"/>
          </a:xfrm>
          <a:prstGeom prst="roundRect">
            <a:avLst>
              <a:gd name="adj" fmla="val 2400"/>
            </a:avLst>
          </a:prstGeom>
          <a:solidFill>
            <a:srgbClr val="0C1726"/>
          </a:solidFill>
          <a:ln w="12700">
            <a:solidFill>
              <a:srgbClr val="2A4263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Shape 34"/>
          <p:cNvSpPr/>
          <p:nvPr/>
        </p:nvSpPr>
        <p:spPr>
          <a:xfrm>
            <a:off x="7772400" y="5047560"/>
            <a:ext cx="310680" cy="3106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35"/>
          <p:cNvSpPr/>
          <p:nvPr/>
        </p:nvSpPr>
        <p:spPr>
          <a:xfrm>
            <a:off x="7772400" y="50475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6241F"/>
                </a:solidFill>
                <a:latin typeface="Noto Sans KR"/>
                <a:ea typeface="Noto Sans KR"/>
              </a:rPr>
              <a:t>3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 36"/>
          <p:cNvSpPr/>
          <p:nvPr/>
        </p:nvSpPr>
        <p:spPr>
          <a:xfrm>
            <a:off x="8202240" y="50475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로컬 실행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 37"/>
          <p:cNvSpPr/>
          <p:nvPr/>
        </p:nvSpPr>
        <p:spPr>
          <a:xfrm>
            <a:off x="8202240" y="535824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CLI </a:t>
            </a:r>
            <a:r>
              <a:rPr lang="zh-CN" sz="100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실행 화면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3" name="Image 2" descr="/home/claude/icons/terminal_slate.png"/>
          <p:cNvPicPr/>
          <p:nvPr/>
        </p:nvPicPr>
        <p:blipFill>
          <a:blip r:embed="rId5"/>
          <a:stretch/>
        </p:blipFill>
        <p:spPr>
          <a:xfrm>
            <a:off x="10607040" y="513900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14" name="Text 38"/>
          <p:cNvSpPr/>
          <p:nvPr/>
        </p:nvSpPr>
        <p:spPr>
          <a:xfrm>
            <a:off x="10314360" y="550476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0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스크린샷 영역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Text 39"/>
          <p:cNvSpPr/>
          <p:nvPr/>
        </p:nvSpPr>
        <p:spPr>
          <a:xfrm>
            <a:off x="7543800" y="6108120"/>
            <a:ext cx="4141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☞ </a:t>
            </a:r>
            <a:r>
              <a:rPr lang="zh-CN" sz="95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위 영역에 </a:t>
            </a:r>
            <a:r>
              <a:rPr lang="en-US" sz="95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Git </a:t>
            </a:r>
            <a:r>
              <a:rPr lang="zh-CN" sz="95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다운로드 </a:t>
            </a:r>
            <a:r>
              <a:rPr lang="en-US" sz="95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· </a:t>
            </a:r>
            <a:r>
              <a:rPr lang="zh-CN" sz="95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웹 </a:t>
            </a:r>
            <a:r>
              <a:rPr lang="en-US" sz="95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UI </a:t>
            </a:r>
            <a:r>
              <a:rPr lang="zh-CN" sz="95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실행 </a:t>
            </a:r>
            <a:r>
              <a:rPr lang="en-US" sz="95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· </a:t>
            </a:r>
            <a:r>
              <a:rPr lang="zh-CN" sz="950" b="0" strike="noStrike" spc="-1">
                <a:solidFill>
                  <a:srgbClr val="566983"/>
                </a:solidFill>
                <a:latin typeface="Noto Sans KR"/>
                <a:ea typeface="Noto Sans KR"/>
              </a:rPr>
              <a:t>로컬 실행 캡처를 넣어 시연 흐름을 보여줄 수 있습니다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299">
                <a:solidFill>
                  <a:srgbClr val="F4883C"/>
                </a:solidFill>
                <a:latin typeface="Noto Sans KR"/>
                <a:ea typeface="Noto Sans KR"/>
              </a:rPr>
              <a:t>12  ·  IMPACT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기대효과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안전성 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효율성 </a:t>
            </a:r>
            <a:r>
              <a:rPr lang="en-US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 </a:t>
            </a:r>
            <a:r>
              <a:rPr lang="zh-CN" sz="14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투명성 — 세 갈래로 파일 관리를 자동화합니다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93A3BA"/>
                </a:solidFill>
                <a:latin typeface="Noto Sans KR"/>
                <a:ea typeface="Noto Sans KR"/>
              </a:rPr>
              <a:t>13</a:t>
            </a:r>
            <a:r>
              <a:rPr lang="en-US" sz="1100" b="0" strike="noStrike" spc="97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248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Shape 6"/>
          <p:cNvSpPr/>
          <p:nvPr/>
        </p:nvSpPr>
        <p:spPr>
          <a:xfrm>
            <a:off x="502920" y="2286000"/>
            <a:ext cx="3702960" cy="352008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3" name="Image 0" descr="/home/claude/icons/shield_teal.png"/>
          <p:cNvPicPr/>
          <p:nvPr/>
        </p:nvPicPr>
        <p:blipFill>
          <a:blip r:embed="rId3"/>
          <a:stretch/>
        </p:blipFill>
        <p:spPr>
          <a:xfrm>
            <a:off x="822960" y="25603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24" name="Text 7"/>
          <p:cNvSpPr/>
          <p:nvPr/>
        </p:nvSpPr>
        <p:spPr>
          <a:xfrm>
            <a:off x="1252800" y="2597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299">
                <a:solidFill>
                  <a:srgbClr val="5EEAD4"/>
                </a:solidFill>
                <a:latin typeface="Noto Sans KR"/>
                <a:ea typeface="Noto Sans KR"/>
              </a:rPr>
              <a:t>PILLAR 01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8"/>
          <p:cNvSpPr/>
          <p:nvPr/>
        </p:nvSpPr>
        <p:spPr>
          <a:xfrm>
            <a:off x="822960" y="296280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안전성</a:t>
            </a:r>
            <a:endParaRPr lang="en-US" sz="2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Shape 9"/>
          <p:cNvSpPr/>
          <p:nvPr/>
        </p:nvSpPr>
        <p:spPr>
          <a:xfrm>
            <a:off x="850320" y="3474720"/>
            <a:ext cx="457200" cy="360"/>
          </a:xfrm>
          <a:prstGeom prst="line">
            <a:avLst/>
          </a:prstGeom>
          <a:ln w="31750">
            <a:solidFill>
              <a:srgbClr val="2DD4B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Text 10"/>
          <p:cNvSpPr/>
          <p:nvPr/>
        </p:nvSpPr>
        <p:spPr>
          <a:xfrm>
            <a:off x="822960" y="373068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2DD4BF"/>
                </a:solidFill>
                <a:latin typeface="Noto Sans KR"/>
                <a:ea typeface="Noto Sans KR"/>
              </a:rPr>
              <a:t>▶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Text 11"/>
          <p:cNvSpPr/>
          <p:nvPr/>
        </p:nvSpPr>
        <p:spPr>
          <a:xfrm>
            <a:off x="822960" y="3931920"/>
            <a:ext cx="3154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데이터 손실 위험 제거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Text 12"/>
          <p:cNvSpPr/>
          <p:nvPr/>
        </p:nvSpPr>
        <p:spPr>
          <a:xfrm>
            <a:off x="822960" y="4169520"/>
            <a:ext cx="3154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삭제 없는 이동 </a:t>
            </a: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+ 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이력 기반 복원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Text 13"/>
          <p:cNvSpPr/>
          <p:nvPr/>
        </p:nvSpPr>
        <p:spPr>
          <a:xfrm>
            <a:off x="822960" y="43891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2DD4BF"/>
                </a:solidFill>
                <a:latin typeface="Noto Sans KR"/>
                <a:ea typeface="Noto Sans KR"/>
              </a:rPr>
              <a:t>▶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Text 14"/>
          <p:cNvSpPr/>
          <p:nvPr/>
        </p:nvSpPr>
        <p:spPr>
          <a:xfrm>
            <a:off x="822960" y="4590360"/>
            <a:ext cx="3154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이중 확인 게이트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Text 15"/>
          <p:cNvSpPr/>
          <p:nvPr/>
        </p:nvSpPr>
        <p:spPr>
          <a:xfrm>
            <a:off x="822960" y="4827960"/>
            <a:ext cx="3154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토큰으로 의도한 작업만 실행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Shape 16"/>
          <p:cNvSpPr/>
          <p:nvPr/>
        </p:nvSpPr>
        <p:spPr>
          <a:xfrm>
            <a:off x="4224600" y="2286000"/>
            <a:ext cx="3702960" cy="352008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34" name="Image 1" descr="/home/claude/icons/bolt_orange.png"/>
          <p:cNvPicPr/>
          <p:nvPr/>
        </p:nvPicPr>
        <p:blipFill>
          <a:blip r:embed="rId4"/>
          <a:stretch/>
        </p:blipFill>
        <p:spPr>
          <a:xfrm>
            <a:off x="4544640" y="25603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35" name="Text 17"/>
          <p:cNvSpPr/>
          <p:nvPr/>
        </p:nvSpPr>
        <p:spPr>
          <a:xfrm>
            <a:off x="4974480" y="2597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299">
                <a:solidFill>
                  <a:srgbClr val="FB923C"/>
                </a:solidFill>
                <a:latin typeface="Noto Sans KR"/>
                <a:ea typeface="Noto Sans KR"/>
              </a:rPr>
              <a:t>PILLAR 02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Text 18"/>
          <p:cNvSpPr/>
          <p:nvPr/>
        </p:nvSpPr>
        <p:spPr>
          <a:xfrm>
            <a:off x="4544640" y="296280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효율성</a:t>
            </a:r>
            <a:endParaRPr lang="en-US" sz="2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Shape 19"/>
          <p:cNvSpPr/>
          <p:nvPr/>
        </p:nvSpPr>
        <p:spPr>
          <a:xfrm>
            <a:off x="4572000" y="3474720"/>
            <a:ext cx="457200" cy="360"/>
          </a:xfrm>
          <a:prstGeom prst="line">
            <a:avLst/>
          </a:prstGeom>
          <a:ln w="31750">
            <a:solidFill>
              <a:srgbClr val="F488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Text 20"/>
          <p:cNvSpPr/>
          <p:nvPr/>
        </p:nvSpPr>
        <p:spPr>
          <a:xfrm>
            <a:off x="4544640" y="373068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4883C"/>
                </a:solidFill>
                <a:latin typeface="Noto Sans KR"/>
                <a:ea typeface="Noto Sans KR"/>
              </a:rPr>
              <a:t>▶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Text 21"/>
          <p:cNvSpPr/>
          <p:nvPr/>
        </p:nvSpPr>
        <p:spPr>
          <a:xfrm>
            <a:off x="4544640" y="3931920"/>
            <a:ext cx="3154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수작업 정리 시간 단축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Text 22"/>
          <p:cNvSpPr/>
          <p:nvPr/>
        </p:nvSpPr>
        <p:spPr>
          <a:xfrm>
            <a:off x="4544640" y="4169520"/>
            <a:ext cx="3154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유형</a:t>
            </a: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날짜별 자동 분류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Text 23"/>
          <p:cNvSpPr/>
          <p:nvPr/>
        </p:nvSpPr>
        <p:spPr>
          <a:xfrm>
            <a:off x="4544640" y="43891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4883C"/>
                </a:solidFill>
                <a:latin typeface="Noto Sans KR"/>
                <a:ea typeface="Noto Sans KR"/>
              </a:rPr>
              <a:t>▶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Text 24"/>
          <p:cNvSpPr/>
          <p:nvPr/>
        </p:nvSpPr>
        <p:spPr>
          <a:xfrm>
            <a:off x="4544640" y="4590360"/>
            <a:ext cx="3154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중복</a:t>
            </a:r>
            <a:r>
              <a:rPr lang="en-US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오래된 파일 정리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Text 25"/>
          <p:cNvSpPr/>
          <p:nvPr/>
        </p:nvSpPr>
        <p:spPr>
          <a:xfrm>
            <a:off x="4544640" y="4827960"/>
            <a:ext cx="3154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용량 회수 후보를 즉시 식별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Shape 26"/>
          <p:cNvSpPr/>
          <p:nvPr/>
        </p:nvSpPr>
        <p:spPr>
          <a:xfrm>
            <a:off x="7946280" y="2286000"/>
            <a:ext cx="3702960" cy="352008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45" name="Image 2" descr="/home/claude/icons/eye_purple.png"/>
          <p:cNvPicPr/>
          <p:nvPr/>
        </p:nvPicPr>
        <p:blipFill>
          <a:blip r:embed="rId5"/>
          <a:stretch/>
        </p:blipFill>
        <p:spPr>
          <a:xfrm>
            <a:off x="8266320" y="25603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46" name="Text 27"/>
          <p:cNvSpPr/>
          <p:nvPr/>
        </p:nvSpPr>
        <p:spPr>
          <a:xfrm>
            <a:off x="8695800" y="2597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299">
                <a:solidFill>
                  <a:srgbClr val="BCA4FB"/>
                </a:solidFill>
                <a:latin typeface="Noto Sans KR"/>
                <a:ea typeface="Noto Sans KR"/>
              </a:rPr>
              <a:t>PILLAR 03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Text 28"/>
          <p:cNvSpPr/>
          <p:nvPr/>
        </p:nvSpPr>
        <p:spPr>
          <a:xfrm>
            <a:off x="8266320" y="296280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투명성</a:t>
            </a:r>
            <a:endParaRPr lang="en-US" sz="2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Shape 29"/>
          <p:cNvSpPr/>
          <p:nvPr/>
        </p:nvSpPr>
        <p:spPr>
          <a:xfrm>
            <a:off x="8293320" y="3474720"/>
            <a:ext cx="457200" cy="360"/>
          </a:xfrm>
          <a:prstGeom prst="line">
            <a:avLst/>
          </a:prstGeom>
          <a:ln w="3175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Text 30"/>
          <p:cNvSpPr/>
          <p:nvPr/>
        </p:nvSpPr>
        <p:spPr>
          <a:xfrm>
            <a:off x="8266320" y="373068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A78BFA"/>
                </a:solidFill>
                <a:latin typeface="Noto Sans KR"/>
                <a:ea typeface="Noto Sans KR"/>
              </a:rPr>
              <a:t>▶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 31"/>
          <p:cNvSpPr/>
          <p:nvPr/>
        </p:nvSpPr>
        <p:spPr>
          <a:xfrm>
            <a:off x="8266320" y="3931920"/>
            <a:ext cx="3154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근거가 남는 정리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Text 32"/>
          <p:cNvSpPr/>
          <p:nvPr/>
        </p:nvSpPr>
        <p:spPr>
          <a:xfrm>
            <a:off x="8266320" y="4169520"/>
            <a:ext cx="3154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보고서</a:t>
            </a: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로그</a:t>
            </a: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이력으로 추적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Text 33"/>
          <p:cNvSpPr/>
          <p:nvPr/>
        </p:nvSpPr>
        <p:spPr>
          <a:xfrm>
            <a:off x="8266320" y="43891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A78BFA"/>
                </a:solidFill>
                <a:latin typeface="Noto Sans KR"/>
                <a:ea typeface="Noto Sans KR"/>
              </a:rPr>
              <a:t>▶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Text 34"/>
          <p:cNvSpPr/>
          <p:nvPr/>
        </p:nvSpPr>
        <p:spPr>
          <a:xfrm>
            <a:off x="8266320" y="4590360"/>
            <a:ext cx="3154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개인정보 보호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 35"/>
          <p:cNvSpPr/>
          <p:nvPr/>
        </p:nvSpPr>
        <p:spPr>
          <a:xfrm>
            <a:off x="8266320" y="4827960"/>
            <a:ext cx="3154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북마크 마스킹</a:t>
            </a: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제외 옵션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Text 36"/>
          <p:cNvSpPr/>
          <p:nvPr/>
        </p:nvSpPr>
        <p:spPr>
          <a:xfrm>
            <a:off x="8266320" y="504756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A78BFA"/>
                </a:solidFill>
                <a:latin typeface="Noto Sans KR"/>
                <a:ea typeface="Noto Sans KR"/>
              </a:rPr>
              <a:t>▶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 37"/>
          <p:cNvSpPr/>
          <p:nvPr/>
        </p:nvSpPr>
        <p:spPr>
          <a:xfrm>
            <a:off x="8266320" y="5248800"/>
            <a:ext cx="3154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strike="noStrike" spc="-1">
                <a:solidFill>
                  <a:srgbClr val="E6EDF6"/>
                </a:solidFill>
                <a:latin typeface="Noto Sans KR"/>
                <a:ea typeface="Noto Sans KR"/>
              </a:rPr>
              <a:t>재현 가능한 운영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Text 38"/>
          <p:cNvSpPr/>
          <p:nvPr/>
        </p:nvSpPr>
        <p:spPr>
          <a:xfrm>
            <a:off x="8266320" y="5486400"/>
            <a:ext cx="3154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config.json</a:t>
            </a:r>
            <a:r>
              <a:rPr lang="zh-CN" sz="1050" b="0" strike="noStrike" spc="-1">
                <a:solidFill>
                  <a:srgbClr val="93A3BA"/>
                </a:solidFill>
                <a:latin typeface="Noto Sans KR"/>
                <a:ea typeface="Noto Sans KR"/>
              </a:rPr>
              <a:t>으로 규칙 고정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Shape 39"/>
          <p:cNvSpPr/>
          <p:nvPr/>
        </p:nvSpPr>
        <p:spPr>
          <a:xfrm>
            <a:off x="502920" y="5989320"/>
            <a:ext cx="11155680" cy="360"/>
          </a:xfrm>
          <a:prstGeom prst="line">
            <a:avLst/>
          </a:prstGeom>
          <a:ln w="12700">
            <a:solidFill>
              <a:srgbClr val="1F34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40"/>
          <p:cNvSpPr/>
          <p:nvPr/>
        </p:nvSpPr>
        <p:spPr>
          <a:xfrm>
            <a:off x="502920" y="605340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5EEAD4"/>
                </a:solidFill>
                <a:latin typeface="Noto Sans KR"/>
                <a:ea typeface="Noto Sans KR"/>
              </a:rPr>
              <a:t>DownloadOrganizer</a:t>
            </a:r>
            <a:r>
              <a:rPr lang="zh-CN" sz="1500" b="0" strike="noStrike" spc="-1">
                <a:solidFill>
                  <a:srgbClr val="E6EDF6"/>
                </a:solidFill>
                <a:latin typeface="Noto Sans KR"/>
                <a:ea typeface="Noto Sans KR"/>
              </a:rPr>
              <a:t>는 단순한 정리 도구가 아니라</a:t>
            </a:r>
            <a:r>
              <a:rPr lang="en-US" sz="1500" b="0" strike="noStrike" spc="-1">
                <a:solidFill>
                  <a:srgbClr val="E6EDF6"/>
                </a:solidFill>
                <a:latin typeface="Noto Sans KR"/>
                <a:ea typeface="Noto Sans KR"/>
              </a:rPr>
              <a:t>, </a:t>
            </a:r>
            <a:r>
              <a:rPr lang="zh-CN" sz="1500" b="1" strike="noStrike" spc="-1">
                <a:solidFill>
                  <a:srgbClr val="FB923C"/>
                </a:solidFill>
                <a:latin typeface="Noto Sans KR"/>
                <a:ea typeface="Noto Sans KR"/>
              </a:rPr>
              <a:t>안전을 기본값으로 설계한 파일 자동화 시스템</a:t>
            </a:r>
            <a:r>
              <a:rPr lang="zh-CN" sz="1500" b="0" strike="noStrike" spc="-1">
                <a:solidFill>
                  <a:srgbClr val="E6EDF6"/>
                </a:solidFill>
                <a:latin typeface="Noto Sans KR"/>
                <a:ea typeface="Noto Sans KR"/>
              </a:rPr>
              <a:t>입니다</a:t>
            </a:r>
            <a:r>
              <a:rPr lang="en-US" sz="1500" b="0" strike="noStrike" spc="-1">
                <a:solidFill>
                  <a:srgbClr val="E6EDF6"/>
                </a:solidFill>
                <a:latin typeface="Noto Sans KR"/>
                <a:ea typeface="Noto Sans KR"/>
              </a:rPr>
              <a:t>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2590</Words>
  <Application>Microsoft Office PowerPoint</Application>
  <PresentationFormat>와이드스크린</PresentationFormat>
  <Paragraphs>396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DejaVu Sans Mono</vt:lpstr>
      <vt:lpstr>Noto Sans KR</vt:lpstr>
      <vt:lpstr>Arial</vt:lpstr>
      <vt:lpstr>Calibri</vt:lpstr>
      <vt:lpstr>Symbol</vt:lpstr>
      <vt:lpstr>Times New Roman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1</cp:revision>
  <dcterms:modified xsi:type="dcterms:W3CDTF">2026-06-11T06:16:20Z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2026-06-11T05:41:57Z</dcterms:created>
  <dc:creator>DownloadOrganizer</dc:creator>
  <dc:description/>
  <dc:language>en-US</dc:language>
  <cp:lastModifiedBy>DownloadOrganizer</cp:lastModifiedBy>
  <dcterms:modified xsi:type="dcterms:W3CDTF">2026-06-11T05:41:57Z</dcterms:modified>
  <cp:revision>1</cp:revision>
  <dc:subject>PptxGenJS Presentation</dc:subject>
  <dc:title>DownloadOrganizer — 다운로드 폴더 정리 자동화 시스템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